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FleetGraph is an agent layered on Ship. One graph, two modes: it pushes findings proactively and answers in-context on demand. Goal of this defense: justify the architecture, the trigger model, the autonomy boundary, and how we hit &lt;5 min detection — while reusing Ship's existing primitives.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value isn't catching one bug, it's that the responsible humans are not watching. The agent watches, decides what's worth surfacing, and proposes the next action. We must also make the right next action obvious, not just flag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claim to defend: it makes decisions, not just data fetches; it knows when to act vs wait. And the two modes are one graph with two entry points — that's what keeps it coherent and is why a single set of traces covers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two agents': shared fetch + reasoning means one place to maintain detectors, one tool layer, one trace project. The only branch is at entry and at the autonomy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router splits proactive vs ondemand; both fan out into 7 parallel read-only fetches. Detection is pure rules (cheap). dedupFilter is the cost gate — most proactive runs end here with zero LLM. Survivors go Haiku triage -&gt; Opus draft. classifyActions stamps auto vs hitl. Auto = post comment + notify. HITL = interrupt, persisted in Postgres, resumes on approve/dismiss/snooze. On-demand enters at the router, shares fetch, ends at a chat answer or routes a proposed write through the SAME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grader checks that the graph branches. Path 1 (quiet) vs Path 3 (HITL) are the cleanest contrast: one has zero LLM nodes, the other pauses mid-run. That's the evidence it's a graph, not a fixed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Defensible, not 'correct'. The timed test introduces an event and starts a clock — mutation path answers that in under a minute. Cron is the safety net and the only way to catch the absence-class conditions. Advisory lock is the answer to 'what about horizontal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produce information freely (additive, reversible); ask before mutating the state humans are accountable for. The API only allows five issue fields anyway, so the boundary is enforced in depth, not just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embedded matters for grading: 'a chat window on an issue should know about that issue.' We get that for free from the existing CurrentDocument context. It should feel like a power feature, not the primary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with no user present: Bearer service token. Where it runs: same EB process as the API, so it inherits the IAM role for Bedrock and the DB pool. The only real infra decision we defend is the Postgres checkpointer over MemorySaver — required because EB is multi-instance and ephemeral.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the dominant proactive run is the quiet path at zero tokens, because dedup short-circuits before the LLM. Tiering keeps the high-volume classification on Haiku. Full dev-spend numbers and 100/1k/10k projections land in the Cost Analysis section by final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thesis. We're not bolting on a chatbot; we're adding judgment to a system that already has the data and the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6FB7"/>
          </a:solidFill>
          <a:ln/>
        </p:spPr>
      </p:sp>
      <p:sp>
        <p:nvSpPr>
          <p:cNvPr id="3" name="Shape 1"/>
          <p:cNvSpPr/>
          <p:nvPr/>
        </p:nvSpPr>
        <p:spPr>
          <a:xfrm>
            <a:off x="0" y="4937760"/>
            <a:ext cx="9144000" cy="205740"/>
          </a:xfrm>
          <a:prstGeom prst="rect">
            <a:avLst/>
          </a:prstGeom>
          <a:solidFill>
            <a:srgbClr val="1F3A5F"/>
          </a:solidFill>
          <a:ln/>
        </p:spPr>
      </p:sp>
      <p:sp>
        <p:nvSpPr>
          <p:cNvPr id="4" name="Text 2"/>
          <p:cNvSpPr/>
          <p:nvPr/>
        </p:nvSpPr>
        <p:spPr>
          <a:xfrm>
            <a:off x="274320" y="4937760"/>
            <a:ext cx="6858000" cy="205740"/>
          </a:xfrm>
          <a:prstGeom prst="rect">
            <a:avLst/>
          </a:prstGeom>
          <a:noFill/>
          <a:ln/>
        </p:spPr>
        <p:txBody>
          <a:bodyPr wrap="square" rtlCol="0" anchor="ctr"/>
          <a:lstStyle/>
          <a:p>
            <a:pPr algn="l" indent="0" marL="0">
              <a:buNone/>
            </a:pPr>
            <a:r>
              <a:rPr lang="en-US" sz="800" dirty="0">
                <a:solidFill>
                  <a:srgbClr val="FFFFFF"/>
                </a:solidFill>
                <a:latin typeface="Arial" pitchFamily="34" charset="0"/>
                <a:ea typeface="Arial" pitchFamily="34" charset="-122"/>
                <a:cs typeface="Arial" pitchFamily="34" charset="-120"/>
              </a:rPr>
              <a:t>FleetGraph · A Project Intelligence Agent for Ship</a:t>
            </a:r>
            <a:endParaRPr lang="en-US" sz="800" dirty="0"/>
          </a:p>
        </p:txBody>
      </p:sp>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F3A5F"/>
          </a:solidFill>
          <a:ln/>
        </p:spPr>
      </p:sp>
      <p:sp>
        <p:nvSpPr>
          <p:cNvPr id="3" name="Shape 1"/>
          <p:cNvSpPr/>
          <p:nvPr/>
        </p:nvSpPr>
        <p:spPr>
          <a:xfrm>
            <a:off x="0" y="0"/>
            <a:ext cx="164592" cy="5143500"/>
          </a:xfrm>
          <a:prstGeom prst="rect">
            <a:avLst/>
          </a:prstGeom>
          <a:solidFill>
            <a:srgbClr val="C9892F"/>
          </a:solidFill>
          <a:ln/>
        </p:spPr>
      </p:sp>
      <p:sp>
        <p:nvSpPr>
          <p:cNvPr id="4" name="Text 2"/>
          <p:cNvSpPr/>
          <p:nvPr/>
        </p:nvSpPr>
        <p:spPr>
          <a:xfrm>
            <a:off x="640080" y="1417320"/>
            <a:ext cx="7863840" cy="914400"/>
          </a:xfrm>
          <a:prstGeom prst="rect">
            <a:avLst/>
          </a:prstGeom>
          <a:noFill/>
          <a:ln/>
        </p:spPr>
        <p:txBody>
          <a:bodyPr wrap="square" rtlCol="0" anchor="ctr"/>
          <a:lstStyle/>
          <a:p>
            <a:pPr indent="0" marL="0">
              <a:buNone/>
            </a:pPr>
            <a:r>
              <a:rPr lang="en-US" sz="5400" b="1" dirty="0">
                <a:solidFill>
                  <a:srgbClr val="FFFFFF"/>
                </a:solidFill>
                <a:latin typeface="Arial" pitchFamily="34" charset="0"/>
                <a:ea typeface="Arial" pitchFamily="34" charset="-122"/>
                <a:cs typeface="Arial" pitchFamily="34" charset="-120"/>
              </a:rPr>
              <a:t>FleetGraph</a:t>
            </a:r>
            <a:endParaRPr lang="en-US" sz="5400" dirty="0"/>
          </a:p>
        </p:txBody>
      </p:sp>
      <p:sp>
        <p:nvSpPr>
          <p:cNvPr id="5" name="Text 3"/>
          <p:cNvSpPr/>
          <p:nvPr/>
        </p:nvSpPr>
        <p:spPr>
          <a:xfrm>
            <a:off x="658368" y="2331720"/>
            <a:ext cx="7863840" cy="457200"/>
          </a:xfrm>
          <a:prstGeom prst="rect">
            <a:avLst/>
          </a:prstGeom>
          <a:noFill/>
          <a:ln/>
        </p:spPr>
        <p:txBody>
          <a:bodyPr wrap="square" rtlCol="0" anchor="ctr"/>
          <a:lstStyle/>
          <a:p>
            <a:pPr indent="0" marL="0">
              <a:buNone/>
            </a:pPr>
            <a:r>
              <a:rPr lang="en-US" sz="2000" dirty="0">
                <a:solidFill>
                  <a:srgbClr val="B9CBE0"/>
                </a:solidFill>
                <a:latin typeface="Arial" pitchFamily="34" charset="0"/>
                <a:ea typeface="Arial" pitchFamily="34" charset="-122"/>
                <a:cs typeface="Arial" pitchFamily="34" charset="-120"/>
              </a:rPr>
              <a:t>A Project Intelligence Agent for Ship</a:t>
            </a:r>
            <a:endParaRPr lang="en-US" sz="2000" dirty="0"/>
          </a:p>
        </p:txBody>
      </p:sp>
      <p:sp>
        <p:nvSpPr>
          <p:cNvPr id="6" name="Text 4"/>
          <p:cNvSpPr/>
          <p:nvPr/>
        </p:nvSpPr>
        <p:spPr>
          <a:xfrm>
            <a:off x="658368" y="2880360"/>
            <a:ext cx="7680960" cy="457200"/>
          </a:xfrm>
          <a:prstGeom prst="rect">
            <a:avLst/>
          </a:prstGeom>
          <a:noFill/>
          <a:ln/>
        </p:spPr>
        <p:txBody>
          <a:bodyPr wrap="square" rtlCol="0" anchor="ctr"/>
          <a:lstStyle/>
          <a:p>
            <a:pPr indent="0" marL="0">
              <a:buNone/>
            </a:pPr>
            <a:r>
              <a:rPr lang="en-US" sz="1300" i="1" dirty="0">
                <a:solidFill>
                  <a:srgbClr val="8FA6C4"/>
                </a:solidFill>
                <a:latin typeface="Arial" pitchFamily="34" charset="0"/>
                <a:ea typeface="Arial" pitchFamily="34" charset="-122"/>
                <a:cs typeface="Arial" pitchFamily="34" charset="-120"/>
              </a:rPr>
              <a:t>Ship shows you what's happening. FleetGraph tells you what's wrong — and what to do next.</a:t>
            </a:r>
            <a:endParaRPr lang="en-US" sz="1300" dirty="0"/>
          </a:p>
        </p:txBody>
      </p:sp>
      <p:sp>
        <p:nvSpPr>
          <p:cNvPr id="7" name="Text 5"/>
          <p:cNvSpPr/>
          <p:nvPr/>
        </p:nvSpPr>
        <p:spPr>
          <a:xfrm>
            <a:off x="658368" y="4160520"/>
            <a:ext cx="731520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Architecture Defense  ·  Week 5</a:t>
            </a:r>
            <a:endParaRPr lang="en-US" sz="1200" dirty="0"/>
          </a:p>
        </p:txBody>
      </p:sp>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74320" y="164592"/>
            <a:ext cx="8595360" cy="274320"/>
          </a:xfrm>
          <a:prstGeom prst="rect">
            <a:avLst/>
          </a:prstGeom>
          <a:noFill/>
          <a:ln/>
        </p:spPr>
        <p:txBody>
          <a:bodyPr wrap="square" rtlCol="0" anchor="ctr"/>
          <a:lstStyle/>
          <a:p>
            <a:pPr indent="0" marL="0">
              <a:buNone/>
            </a:pPr>
            <a:r>
              <a:rPr lang="en-US" sz="1100" b="1" spc="200" kern="0" dirty="0">
                <a:solidFill>
                  <a:srgbClr val="2E6FB7"/>
                </a:solidFill>
                <a:latin typeface="Arial" pitchFamily="34" charset="0"/>
                <a:ea typeface="Arial" pitchFamily="34" charset="-122"/>
                <a:cs typeface="Arial" pitchFamily="34" charset="-120"/>
              </a:rPr>
              <a:t>THE PROBLEM</a:t>
            </a:r>
            <a:endParaRPr lang="en-US" sz="1100" dirty="0"/>
          </a:p>
        </p:txBody>
      </p:sp>
      <p:sp>
        <p:nvSpPr>
          <p:cNvPr id="3" name="Text 1"/>
          <p:cNvSpPr/>
          <p:nvPr/>
        </p:nvSpPr>
        <p:spPr>
          <a:xfrm>
            <a:off x="274320" y="384048"/>
            <a:ext cx="8595360" cy="548640"/>
          </a:xfrm>
          <a:prstGeom prst="rect">
            <a:avLst/>
          </a:prstGeom>
          <a:noFill/>
          <a:ln/>
        </p:spPr>
        <p:txBody>
          <a:bodyPr wrap="square" rtlCol="0" anchor="ctr"/>
          <a:lstStyle/>
          <a:p>
            <a:pPr indent="0" marL="0">
              <a:buNone/>
            </a:pPr>
            <a:r>
              <a:rPr lang="en-US" sz="2400" b="1" dirty="0">
                <a:solidFill>
                  <a:srgbClr val="1F3A5F"/>
                </a:solidFill>
                <a:latin typeface="Arial" pitchFamily="34" charset="0"/>
                <a:ea typeface="Arial" pitchFamily="34" charset="-122"/>
                <a:cs typeface="Arial" pitchFamily="34" charset="-120"/>
              </a:rPr>
              <a:t>Dashboards are passive. Teams drift anyway.</a:t>
            </a:r>
            <a:endParaRPr lang="en-US" sz="2400" dirty="0"/>
          </a:p>
        </p:txBody>
      </p:sp>
      <p:sp>
        <p:nvSpPr>
          <p:cNvPr id="4" name="Shape 2"/>
          <p:cNvSpPr/>
          <p:nvPr/>
        </p:nvSpPr>
        <p:spPr>
          <a:xfrm>
            <a:off x="292608" y="950976"/>
            <a:ext cx="1005840" cy="0"/>
          </a:xfrm>
          <a:prstGeom prst="line">
            <a:avLst/>
          </a:prstGeom>
          <a:noFill/>
          <a:ln w="31750">
            <a:solidFill>
              <a:srgbClr val="C9892F"/>
            </a:solidFill>
            <a:prstDash val="solid"/>
          </a:ln>
        </p:spPr>
      </p:sp>
      <p:sp>
        <p:nvSpPr>
          <p:cNvPr id="5" name="Text 3"/>
          <p:cNvSpPr/>
          <p:nvPr/>
        </p:nvSpPr>
        <p:spPr>
          <a:xfrm>
            <a:off x="411480" y="1188720"/>
            <a:ext cx="8321040" cy="3566160"/>
          </a:xfrm>
          <a:prstGeom prst="rect">
            <a:avLst/>
          </a:prstGeom>
          <a:noFill/>
          <a:ln/>
        </p:spPr>
        <p:txBody>
          <a:bodyPr wrap="square" rtlCol="0" anchor="t"/>
          <a:lstStyle/>
          <a:p>
            <a:pPr marL="342900" indent="-342900">
              <a:lnSpc>
                <a:spcPct val="102000"/>
              </a:lnSpc>
              <a:spcAft>
                <a:spcPts val="700"/>
              </a:spcAft>
              <a:buSzPct val="100000"/>
              <a:buChar char="•"/>
            </a:pPr>
            <a:r>
              <a:rPr lang="en-US" sz="1400" b="1" dirty="0">
                <a:solidFill>
                  <a:srgbClr val="1F3A5F"/>
                </a:solidFill>
                <a:latin typeface="Arial" pitchFamily="34" charset="0"/>
                <a:ea typeface="Arial" pitchFamily="34" charset="-122"/>
                <a:cs typeface="Arial" pitchFamily="34" charset="-120"/>
              </a:rPr>
              <a:t>Projects drift silently between check-ins.</a:t>
            </a:r>
            <a:endParaRPr lang="en-US" sz="1400" dirty="0"/>
          </a:p>
          <a:p>
            <a:pPr lvl="1" marL="457200" indent="-228600">
              <a:lnSpc>
                <a:spcPct val="102000"/>
              </a:lnSpc>
              <a:spcAft>
                <a:spcPts val="400"/>
              </a:spcAft>
              <a:buSzPct val="100000"/>
              <a:buChar char="•"/>
            </a:pPr>
            <a:r>
              <a:rPr lang="en-US" sz="1300" dirty="0">
                <a:solidFill>
                  <a:srgbClr val="1A2330"/>
                </a:solidFill>
                <a:latin typeface="Arial" pitchFamily="34" charset="0"/>
                <a:ea typeface="Arial" pitchFamily="34" charset="-122"/>
                <a:cs typeface="Arial" pitchFamily="34" charset="-120"/>
              </a:rPr>
              <a:t>Issues sit stale in-progress for days; nobody is looking.</a:t>
            </a:r>
            <a:endParaRPr lang="en-US" sz="1400" dirty="0"/>
          </a:p>
          <a:p>
            <a:pPr lvl="1" marL="457200" indent="-228600">
              <a:lnSpc>
                <a:spcPct val="102000"/>
              </a:lnSpc>
              <a:spcAft>
                <a:spcPts val="400"/>
              </a:spcAft>
              <a:buSzPct val="100000"/>
              <a:buChar char="•"/>
            </a:pPr>
            <a:r>
              <a:rPr lang="en-US" sz="1300" dirty="0">
                <a:solidFill>
                  <a:srgbClr val="1A2330"/>
                </a:solidFill>
                <a:latin typeface="Arial" pitchFamily="34" charset="0"/>
                <a:ea typeface="Arial" pitchFamily="34" charset="-122"/>
                <a:cs typeface="Arial" pitchFamily="34" charset="-120"/>
              </a:rPr>
              <a:t>Sprints slip while confidence still reads “green.”</a:t>
            </a:r>
            <a:endParaRPr lang="en-US" sz="1400" dirty="0"/>
          </a:p>
          <a:p>
            <a:pPr lvl="1" marL="457200" indent="-228600">
              <a:lnSpc>
                <a:spcPct val="102000"/>
              </a:lnSpc>
              <a:spcAft>
                <a:spcPts val="400"/>
              </a:spcAft>
              <a:buSzPct val="100000"/>
              <a:buChar char="•"/>
            </a:pPr>
            <a:r>
              <a:rPr lang="en-US" sz="1300" dirty="0">
                <a:solidFill>
                  <a:srgbClr val="1A2330"/>
                </a:solidFill>
                <a:latin typeface="Arial" pitchFamily="34" charset="0"/>
                <a:ea typeface="Arial" pitchFamily="34" charset="-122"/>
                <a:cs typeface="Arial" pitchFamily="34" charset="-120"/>
              </a:rPr>
              <a:t>Standups go unlogged; blockers and overdue work pile up unseen.</a:t>
            </a:r>
            <a:endParaRPr lang="en-US" sz="1400" dirty="0"/>
          </a:p>
          <a:p>
            <a:pPr marL="342900" indent="-342900">
              <a:lnSpc>
                <a:spcPct val="102000"/>
              </a:lnSpc>
              <a:spcAft>
                <a:spcPts val="700"/>
              </a:spcAft>
              <a:buSzPct val="100000"/>
              <a:buChar char="•"/>
            </a:pPr>
            <a:r>
              <a:rPr lang="en-US" sz="1400" b="1" dirty="0">
                <a:solidFill>
                  <a:srgbClr val="1F3A5F"/>
                </a:solidFill>
                <a:latin typeface="Arial" pitchFamily="34" charset="0"/>
                <a:ea typeface="Arial" pitchFamily="34" charset="-122"/>
                <a:cs typeface="Arial" pitchFamily="34" charset="-120"/>
              </a:rPr>
              <a:t>The people responsible are busy, context-switching, and not staring at a dashboard when it matters.</a:t>
            </a:r>
            <a:endParaRPr lang="en-US" sz="1400" dirty="0"/>
          </a:p>
          <a:p>
            <a:pPr marL="342900" indent="-342900">
              <a:lnSpc>
                <a:spcPct val="102000"/>
              </a:lnSpc>
              <a:spcAft>
                <a:spcPts val="700"/>
              </a:spcAft>
              <a:buSzPct val="100000"/>
              <a:buChar char="•"/>
            </a:pPr>
            <a:r>
              <a:rPr lang="en-US" sz="1400" b="1" dirty="0">
                <a:solidFill>
                  <a:srgbClr val="C0492B"/>
                </a:solidFill>
                <a:latin typeface="Arial" pitchFamily="34" charset="0"/>
                <a:ea typeface="Arial" pitchFamily="34" charset="-122"/>
                <a:cs typeface="Arial" pitchFamily="34" charset="-120"/>
              </a:rPr>
              <a:t>The fix isn't a better dashboard — it's an agent that watches the system for them and does something about it.</a:t>
            </a:r>
            <a:endParaRPr lang="en-US" sz="1400" dirty="0"/>
          </a:p>
        </p:txBody>
      </p:sp>
      <p:sp>
        <p:nvSpPr>
          <p:cNvPr id="6" name="Shape 4"/>
          <p:cNvSpPr/>
          <p:nvPr/>
        </p:nvSpPr>
        <p:spPr>
          <a:xfrm>
            <a:off x="411480" y="4160520"/>
            <a:ext cx="8321040" cy="566928"/>
          </a:xfrm>
          <a:prstGeom prst="roundRect">
            <a:avLst>
              <a:gd name="adj" fmla="val 12903"/>
            </a:avLst>
          </a:prstGeom>
          <a:solidFill>
            <a:srgbClr val="EAEFF4"/>
          </a:solidFill>
          <a:ln w="12700">
            <a:solidFill>
              <a:srgbClr val="C4CDD6"/>
            </a:solidFill>
            <a:prstDash val="solid"/>
          </a:ln>
        </p:spPr>
      </p:sp>
      <p:sp>
        <p:nvSpPr>
          <p:cNvPr id="7" name="Text 5"/>
          <p:cNvSpPr/>
          <p:nvPr/>
        </p:nvSpPr>
        <p:spPr>
          <a:xfrm>
            <a:off x="548640" y="4160520"/>
            <a:ext cx="8046720" cy="566928"/>
          </a:xfrm>
          <a:prstGeom prst="rect">
            <a:avLst/>
          </a:prstGeom>
          <a:noFill/>
          <a:ln/>
        </p:spPr>
        <p:txBody>
          <a:bodyPr wrap="square" rtlCol="0" anchor="ctr"/>
          <a:lstStyle/>
          <a:p>
            <a:pPr indent="0" marL="0">
              <a:buNone/>
            </a:pPr>
            <a:r>
              <a:rPr lang="en-US" sz="1250" b="1" dirty="0">
                <a:solidFill>
                  <a:srgbClr val="1F3A5F"/>
                </a:solidFill>
                <a:latin typeface="Arial" pitchFamily="34" charset="0"/>
                <a:ea typeface="Arial" pitchFamily="34" charset="-122"/>
                <a:cs typeface="Arial" pitchFamily="34" charset="-120"/>
              </a:rPr>
              <a:t>Design goal:  </a:t>
            </a:r>
            <a:pPr indent="0" marL="0">
              <a:buNone/>
            </a:pPr>
            <a:r>
              <a:rPr lang="en-US" sz="1250" dirty="0">
                <a:solidFill>
                  <a:srgbClr val="1A2330"/>
                </a:solidFill>
                <a:latin typeface="Arial" pitchFamily="34" charset="0"/>
                <a:ea typeface="Arial" pitchFamily="34" charset="-122"/>
                <a:cs typeface="Arial" pitchFamily="34" charset="-120"/>
              </a:rPr>
              <a:t>discover the problems a graph agent can solve that </a:t>
            </a:r>
            <a:pPr indent="0" marL="0">
              <a:buNone/>
            </a:pPr>
            <a:r>
              <a:rPr lang="en-US" sz="1250" i="1" dirty="0">
                <a:solidFill>
                  <a:srgbClr val="C0492B"/>
                </a:solidFill>
                <a:latin typeface="Arial" pitchFamily="34" charset="0"/>
                <a:ea typeface="Arial" pitchFamily="34" charset="-122"/>
                <a:cs typeface="Arial" pitchFamily="34" charset="-120"/>
              </a:rPr>
              <a:t>nothing else can</a:t>
            </a:r>
            <a:pPr indent="0" marL="0">
              <a:buNone/>
            </a:pPr>
            <a:r>
              <a:rPr lang="en-US" sz="1250" dirty="0">
                <a:solidFill>
                  <a:srgbClr val="1A2330"/>
                </a:solidFill>
                <a:latin typeface="Arial" pitchFamily="34" charset="0"/>
                <a:ea typeface="Arial" pitchFamily="34" charset="-122"/>
                <a:cs typeface="Arial" pitchFamily="34" charset="-120"/>
              </a:rPr>
              <a:t> — and prove it on real Ship data.</a:t>
            </a:r>
            <a:endParaRPr lang="en-US" sz="1250" dirty="0"/>
          </a:p>
        </p:txBody>
      </p:sp>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74320" y="164592"/>
            <a:ext cx="8595360" cy="274320"/>
          </a:xfrm>
          <a:prstGeom prst="rect">
            <a:avLst/>
          </a:prstGeom>
          <a:noFill/>
          <a:ln/>
        </p:spPr>
        <p:txBody>
          <a:bodyPr wrap="square" rtlCol="0" anchor="ctr"/>
          <a:lstStyle/>
          <a:p>
            <a:pPr indent="0" marL="0">
              <a:buNone/>
            </a:pPr>
            <a:r>
              <a:rPr lang="en-US" sz="1100" b="1" spc="200" kern="0" dirty="0">
                <a:solidFill>
                  <a:srgbClr val="2E6FB7"/>
                </a:solidFill>
                <a:latin typeface="Arial" pitchFamily="34" charset="0"/>
                <a:ea typeface="Arial" pitchFamily="34" charset="-122"/>
                <a:cs typeface="Arial" pitchFamily="34" charset="-120"/>
              </a:rPr>
              <a:t>WHAT IT IS</a:t>
            </a:r>
            <a:endParaRPr lang="en-US" sz="1100" dirty="0"/>
          </a:p>
        </p:txBody>
      </p:sp>
      <p:sp>
        <p:nvSpPr>
          <p:cNvPr id="3" name="Text 1"/>
          <p:cNvSpPr/>
          <p:nvPr/>
        </p:nvSpPr>
        <p:spPr>
          <a:xfrm>
            <a:off x="274320" y="384048"/>
            <a:ext cx="8595360" cy="548640"/>
          </a:xfrm>
          <a:prstGeom prst="rect">
            <a:avLst/>
          </a:prstGeom>
          <a:noFill/>
          <a:ln/>
        </p:spPr>
        <p:txBody>
          <a:bodyPr wrap="square" rtlCol="0" anchor="ctr"/>
          <a:lstStyle/>
          <a:p>
            <a:pPr indent="0" marL="0">
              <a:buNone/>
            </a:pPr>
            <a:r>
              <a:rPr lang="en-US" sz="2400" b="1" dirty="0">
                <a:solidFill>
                  <a:srgbClr val="1F3A5F"/>
                </a:solidFill>
                <a:latin typeface="Arial" pitchFamily="34" charset="0"/>
                <a:ea typeface="Arial" pitchFamily="34" charset="-122"/>
                <a:cs typeface="Arial" pitchFamily="34" charset="-120"/>
              </a:rPr>
              <a:t>An agent that decides — not a bot that fetches</a:t>
            </a:r>
            <a:endParaRPr lang="en-US" sz="2400" dirty="0"/>
          </a:p>
        </p:txBody>
      </p:sp>
      <p:sp>
        <p:nvSpPr>
          <p:cNvPr id="4" name="Shape 2"/>
          <p:cNvSpPr/>
          <p:nvPr/>
        </p:nvSpPr>
        <p:spPr>
          <a:xfrm>
            <a:off x="292608" y="950976"/>
            <a:ext cx="1005840" cy="0"/>
          </a:xfrm>
          <a:prstGeom prst="line">
            <a:avLst/>
          </a:prstGeom>
          <a:noFill/>
          <a:ln w="31750">
            <a:solidFill>
              <a:srgbClr val="C9892F"/>
            </a:solidFill>
            <a:prstDash val="solid"/>
          </a:ln>
        </p:spPr>
      </p:sp>
      <p:sp>
        <p:nvSpPr>
          <p:cNvPr id="5" name="Shape 3"/>
          <p:cNvSpPr/>
          <p:nvPr/>
        </p:nvSpPr>
        <p:spPr>
          <a:xfrm>
            <a:off x="365760" y="1234440"/>
            <a:ext cx="4069080" cy="2331720"/>
          </a:xfrm>
          <a:prstGeom prst="roundRect">
            <a:avLst>
              <a:gd name="adj" fmla="val 3137"/>
            </a:avLst>
          </a:prstGeom>
          <a:solidFill>
            <a:srgbClr val="F4F6F8"/>
          </a:solidFill>
          <a:ln w="19050">
            <a:solidFill>
              <a:srgbClr val="2E6FB7"/>
            </a:solidFill>
            <a:prstDash val="solid"/>
          </a:ln>
        </p:spPr>
      </p:sp>
      <p:sp>
        <p:nvSpPr>
          <p:cNvPr id="6" name="Text 4"/>
          <p:cNvSpPr/>
          <p:nvPr/>
        </p:nvSpPr>
        <p:spPr>
          <a:xfrm>
            <a:off x="548640" y="1344168"/>
            <a:ext cx="3703320" cy="320040"/>
          </a:xfrm>
          <a:prstGeom prst="rect">
            <a:avLst/>
          </a:prstGeom>
          <a:noFill/>
          <a:ln/>
        </p:spPr>
        <p:txBody>
          <a:bodyPr wrap="square" rtlCol="0" anchor="ctr"/>
          <a:lstStyle/>
          <a:p>
            <a:pPr indent="0" marL="0">
              <a:buNone/>
            </a:pPr>
            <a:r>
              <a:rPr lang="en-US" sz="1300" b="1" dirty="0">
                <a:solidFill>
                  <a:srgbClr val="2E6FB7"/>
                </a:solidFill>
                <a:latin typeface="Arial" pitchFamily="34" charset="0"/>
                <a:ea typeface="Arial" pitchFamily="34" charset="-122"/>
                <a:cs typeface="Arial" pitchFamily="34" charset="-120"/>
              </a:rPr>
              <a:t>PROACTIVE  —  the agent pushes</a:t>
            </a:r>
            <a:endParaRPr lang="en-US" sz="1300" dirty="0"/>
          </a:p>
        </p:txBody>
      </p:sp>
      <p:sp>
        <p:nvSpPr>
          <p:cNvPr id="7" name="Text 5"/>
          <p:cNvSpPr/>
          <p:nvPr/>
        </p:nvSpPr>
        <p:spPr>
          <a:xfrm>
            <a:off x="566928" y="1737360"/>
            <a:ext cx="3657600" cy="1691640"/>
          </a:xfrm>
          <a:prstGeom prst="rect">
            <a:avLst/>
          </a:prstGeom>
          <a:noFill/>
          <a:ln/>
        </p:spPr>
        <p:txBody>
          <a:bodyPr wrap="square" rtlCol="0" anchor="t"/>
          <a:lstStyle/>
          <a:p>
            <a:pPr marL="342900" indent="-342900">
              <a:spcAft>
                <a:spcPts val="600"/>
              </a:spcAft>
              <a:buSzPct val="100000"/>
              <a:buChar char="•"/>
            </a:pPr>
            <a:r>
              <a:rPr lang="en-US" sz="1150" dirty="0">
                <a:solidFill>
                  <a:srgbClr val="1A2330"/>
                </a:solidFill>
                <a:latin typeface="Arial" pitchFamily="34" charset="0"/>
                <a:ea typeface="Arial" pitchFamily="34" charset="-122"/>
                <a:cs typeface="Arial" pitchFamily="34" charset="-120"/>
              </a:rPr>
              <a:t>Runs on its own — schedule + Ship events, no user present.</a:t>
            </a:r>
            <a:endParaRPr lang="en-US" sz="1150" dirty="0"/>
          </a:p>
          <a:p>
            <a:pPr marL="342900" indent="-342900">
              <a:spcAft>
                <a:spcPts val="600"/>
              </a:spcAft>
              <a:buSzPct val="100000"/>
              <a:buChar char="•"/>
            </a:pPr>
            <a:r>
              <a:rPr lang="en-US" sz="1150" dirty="0">
                <a:solidFill>
                  <a:srgbClr val="1A2330"/>
                </a:solidFill>
                <a:latin typeface="Arial" pitchFamily="34" charset="0"/>
                <a:ea typeface="Arial" pitchFamily="34" charset="-122"/>
                <a:cs typeface="Arial" pitchFamily="34" charset="-120"/>
              </a:rPr>
              <a:t>Monitors project state, detects what's worth surfacing.</a:t>
            </a:r>
            <a:endParaRPr lang="en-US" sz="1150" dirty="0"/>
          </a:p>
          <a:p>
            <a:pPr marL="342900" indent="-342900">
              <a:spcAft>
                <a:spcPts val="600"/>
              </a:spcAft>
              <a:buSzPct val="100000"/>
              <a:buChar char="•"/>
            </a:pPr>
            <a:r>
              <a:rPr lang="en-US" sz="1150" dirty="0">
                <a:solidFill>
                  <a:srgbClr val="1A2330"/>
                </a:solidFill>
                <a:latin typeface="Arial" pitchFamily="34" charset="0"/>
                <a:ea typeface="Arial" pitchFamily="34" charset="-122"/>
                <a:cs typeface="Arial" pitchFamily="34" charset="-120"/>
              </a:rPr>
              <a:t>Decides when to act and when to stay quiet.</a:t>
            </a:r>
            <a:endParaRPr lang="en-US" sz="1150" dirty="0"/>
          </a:p>
          <a:p>
            <a:pPr marL="342900" indent="-342900">
              <a:buSzPct val="100000"/>
              <a:buChar char="•"/>
            </a:pPr>
            <a:r>
              <a:rPr lang="en-US" sz="1150" dirty="0">
                <a:solidFill>
                  <a:srgbClr val="1A2330"/>
                </a:solidFill>
                <a:latin typeface="Arial" pitchFamily="34" charset="0"/>
                <a:ea typeface="Arial" pitchFamily="34" charset="-122"/>
                <a:cs typeface="Arial" pitchFamily="34" charset="-120"/>
              </a:rPr>
              <a:t>Delivers findings to the right people in-app.</a:t>
            </a:r>
            <a:endParaRPr lang="en-US" sz="1150" dirty="0"/>
          </a:p>
        </p:txBody>
      </p:sp>
      <p:sp>
        <p:nvSpPr>
          <p:cNvPr id="8" name="Shape 6"/>
          <p:cNvSpPr/>
          <p:nvPr/>
        </p:nvSpPr>
        <p:spPr>
          <a:xfrm>
            <a:off x="4709160" y="1234440"/>
            <a:ext cx="4069080" cy="2331720"/>
          </a:xfrm>
          <a:prstGeom prst="roundRect">
            <a:avLst>
              <a:gd name="adj" fmla="val 3137"/>
            </a:avLst>
          </a:prstGeom>
          <a:solidFill>
            <a:srgbClr val="F4F6F8"/>
          </a:solidFill>
          <a:ln w="19050">
            <a:solidFill>
              <a:srgbClr val="2C8C99"/>
            </a:solidFill>
            <a:prstDash val="solid"/>
          </a:ln>
        </p:spPr>
      </p:sp>
      <p:sp>
        <p:nvSpPr>
          <p:cNvPr id="9" name="Text 7"/>
          <p:cNvSpPr/>
          <p:nvPr/>
        </p:nvSpPr>
        <p:spPr>
          <a:xfrm>
            <a:off x="4892040" y="1344168"/>
            <a:ext cx="3703320" cy="320040"/>
          </a:xfrm>
          <a:prstGeom prst="rect">
            <a:avLst/>
          </a:prstGeom>
          <a:noFill/>
          <a:ln/>
        </p:spPr>
        <p:txBody>
          <a:bodyPr wrap="square" rtlCol="0" anchor="ctr"/>
          <a:lstStyle/>
          <a:p>
            <a:pPr indent="0" marL="0">
              <a:buNone/>
            </a:pPr>
            <a:r>
              <a:rPr lang="en-US" sz="1300" b="1" dirty="0">
                <a:solidFill>
                  <a:srgbClr val="2C8C99"/>
                </a:solidFill>
                <a:latin typeface="Arial" pitchFamily="34" charset="0"/>
                <a:ea typeface="Arial" pitchFamily="34" charset="-122"/>
                <a:cs typeface="Arial" pitchFamily="34" charset="-120"/>
              </a:rPr>
              <a:t>ON-DEMAND  —  the user pulls</a:t>
            </a:r>
            <a:endParaRPr lang="en-US" sz="1300" dirty="0"/>
          </a:p>
        </p:txBody>
      </p:sp>
      <p:sp>
        <p:nvSpPr>
          <p:cNvPr id="10" name="Text 8"/>
          <p:cNvSpPr/>
          <p:nvPr/>
        </p:nvSpPr>
        <p:spPr>
          <a:xfrm>
            <a:off x="4910328" y="1737360"/>
            <a:ext cx="3657600" cy="1691640"/>
          </a:xfrm>
          <a:prstGeom prst="rect">
            <a:avLst/>
          </a:prstGeom>
          <a:noFill/>
          <a:ln/>
        </p:spPr>
        <p:txBody>
          <a:bodyPr wrap="square" rtlCol="0" anchor="t"/>
          <a:lstStyle/>
          <a:p>
            <a:pPr marL="342900" indent="-342900">
              <a:spcAft>
                <a:spcPts val="600"/>
              </a:spcAft>
              <a:buSzPct val="100000"/>
              <a:buChar char="•"/>
            </a:pPr>
            <a:r>
              <a:rPr lang="en-US" sz="1150" dirty="0">
                <a:solidFill>
                  <a:srgbClr val="1A2330"/>
                </a:solidFill>
                <a:latin typeface="Arial" pitchFamily="34" charset="0"/>
                <a:ea typeface="Arial" pitchFamily="34" charset="-122"/>
                <a:cs typeface="Arial" pitchFamily="34" charset="-120"/>
              </a:rPr>
              <a:t>Embedded chat, scoped to what you're looking at.</a:t>
            </a:r>
            <a:endParaRPr lang="en-US" sz="1150" dirty="0"/>
          </a:p>
          <a:p>
            <a:pPr marL="342900" indent="-342900">
              <a:spcAft>
                <a:spcPts val="600"/>
              </a:spcAft>
              <a:buSzPct val="100000"/>
              <a:buChar char="•"/>
            </a:pPr>
            <a:r>
              <a:rPr lang="en-US" sz="1150" dirty="0">
                <a:solidFill>
                  <a:srgbClr val="1A2330"/>
                </a:solidFill>
                <a:latin typeface="Arial" pitchFamily="34" charset="0"/>
                <a:ea typeface="Arial" pitchFamily="34" charset="-122"/>
                <a:cs typeface="Arial" pitchFamily="34" charset="-120"/>
              </a:rPr>
              <a:t>A chat on an issue knows that issue; on a sprint, that sprint.</a:t>
            </a:r>
            <a:endParaRPr lang="en-US" sz="1150" dirty="0"/>
          </a:p>
          <a:p>
            <a:pPr marL="342900" indent="-342900">
              <a:spcAft>
                <a:spcPts val="600"/>
              </a:spcAft>
              <a:buSzPct val="100000"/>
              <a:buChar char="•"/>
            </a:pPr>
            <a:r>
              <a:rPr lang="en-US" sz="1150" dirty="0">
                <a:solidFill>
                  <a:srgbClr val="1A2330"/>
                </a:solidFill>
                <a:latin typeface="Arial" pitchFamily="34" charset="0"/>
                <a:ea typeface="Arial" pitchFamily="34" charset="-122"/>
                <a:cs typeface="Arial" pitchFamily="34" charset="-120"/>
              </a:rPr>
              <a:t>Answers questions and proposes concrete actions.</a:t>
            </a:r>
            <a:endParaRPr lang="en-US" sz="1150" dirty="0"/>
          </a:p>
          <a:p>
            <a:pPr marL="342900" indent="-342900">
              <a:buSzPct val="100000"/>
              <a:buChar char="•"/>
            </a:pPr>
            <a:r>
              <a:rPr lang="en-US" sz="1150" dirty="0">
                <a:solidFill>
                  <a:srgbClr val="1A2330"/>
                </a:solidFill>
                <a:latin typeface="Arial" pitchFamily="34" charset="0"/>
                <a:ea typeface="Arial" pitchFamily="34" charset="-122"/>
                <a:cs typeface="Arial" pitchFamily="34" charset="-120"/>
              </a:rPr>
              <a:t>A power feature in context — not a standalone chatbot.</a:t>
            </a:r>
            <a:endParaRPr lang="en-US" sz="1150" dirty="0"/>
          </a:p>
        </p:txBody>
      </p:sp>
      <p:sp>
        <p:nvSpPr>
          <p:cNvPr id="11" name="Shape 9"/>
          <p:cNvSpPr/>
          <p:nvPr/>
        </p:nvSpPr>
        <p:spPr>
          <a:xfrm>
            <a:off x="365760" y="3840480"/>
            <a:ext cx="8412480" cy="868680"/>
          </a:xfrm>
          <a:prstGeom prst="roundRect">
            <a:avLst>
              <a:gd name="adj" fmla="val 8421"/>
            </a:avLst>
          </a:prstGeom>
          <a:solidFill>
            <a:srgbClr val="1F3A5F"/>
          </a:solidFill>
          <a:ln/>
        </p:spPr>
      </p:sp>
      <p:sp>
        <p:nvSpPr>
          <p:cNvPr id="12" name="Text 10"/>
          <p:cNvSpPr/>
          <p:nvPr/>
        </p:nvSpPr>
        <p:spPr>
          <a:xfrm>
            <a:off x="548640" y="3840480"/>
            <a:ext cx="8138160" cy="86868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Both modes run through the SAME graph.  </a:t>
            </a:r>
            <a:pPr indent="0" marL="0">
              <a:buNone/>
            </a:pPr>
            <a:r>
              <a:rPr lang="en-US" sz="1300" i="1" dirty="0">
                <a:solidFill>
                  <a:srgbClr val="B9CBE0"/>
                </a:solidFill>
                <a:latin typeface="Arial" pitchFamily="34" charset="0"/>
                <a:ea typeface="Arial" pitchFamily="34" charset="-122"/>
                <a:cs typeface="Arial" pitchFamily="34" charset="-120"/>
              </a:rPr>
              <a:t>The difference is the trigger, not the graph.</a:t>
            </a:r>
            <a:endParaRPr lang="en-US" sz="1400" dirty="0"/>
          </a:p>
        </p:txBody>
      </p:sp>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74320" y="164592"/>
            <a:ext cx="8595360" cy="274320"/>
          </a:xfrm>
          <a:prstGeom prst="rect">
            <a:avLst/>
          </a:prstGeom>
          <a:noFill/>
          <a:ln/>
        </p:spPr>
        <p:txBody>
          <a:bodyPr wrap="square" rtlCol="0" anchor="ctr"/>
          <a:lstStyle/>
          <a:p>
            <a:pPr indent="0" marL="0">
              <a:buNone/>
            </a:pPr>
            <a:r>
              <a:rPr lang="en-US" sz="1100" b="1" spc="200" kern="0" dirty="0">
                <a:solidFill>
                  <a:srgbClr val="2E6FB7"/>
                </a:solidFill>
                <a:latin typeface="Arial" pitchFamily="34" charset="0"/>
                <a:ea typeface="Arial" pitchFamily="34" charset="-122"/>
                <a:cs typeface="Arial" pitchFamily="34" charset="-120"/>
              </a:rPr>
              <a:t>TWO MODES, ONE GRAPH</a:t>
            </a:r>
            <a:endParaRPr lang="en-US" sz="1100" dirty="0"/>
          </a:p>
        </p:txBody>
      </p:sp>
      <p:sp>
        <p:nvSpPr>
          <p:cNvPr id="3" name="Text 1"/>
          <p:cNvSpPr/>
          <p:nvPr/>
        </p:nvSpPr>
        <p:spPr>
          <a:xfrm>
            <a:off x="274320" y="384048"/>
            <a:ext cx="8595360" cy="548640"/>
          </a:xfrm>
          <a:prstGeom prst="rect">
            <a:avLst/>
          </a:prstGeom>
          <a:noFill/>
          <a:ln/>
        </p:spPr>
        <p:txBody>
          <a:bodyPr wrap="square" rtlCol="0" anchor="ctr"/>
          <a:lstStyle/>
          <a:p>
            <a:pPr indent="0" marL="0">
              <a:buNone/>
            </a:pPr>
            <a:r>
              <a:rPr lang="en-US" sz="2400" b="1" dirty="0">
                <a:solidFill>
                  <a:srgbClr val="1F3A5F"/>
                </a:solidFill>
                <a:latin typeface="Arial" pitchFamily="34" charset="0"/>
                <a:ea typeface="Arial" pitchFamily="34" charset="-122"/>
                <a:cs typeface="Arial" pitchFamily="34" charset="-120"/>
              </a:rPr>
              <a:t>Same nodes, different entry</a:t>
            </a:r>
            <a:endParaRPr lang="en-US" sz="2400" dirty="0"/>
          </a:p>
        </p:txBody>
      </p:sp>
      <p:sp>
        <p:nvSpPr>
          <p:cNvPr id="4" name="Shape 2"/>
          <p:cNvSpPr/>
          <p:nvPr/>
        </p:nvSpPr>
        <p:spPr>
          <a:xfrm>
            <a:off x="292608" y="950976"/>
            <a:ext cx="1005840" cy="0"/>
          </a:xfrm>
          <a:prstGeom prst="line">
            <a:avLst/>
          </a:prstGeom>
          <a:noFill/>
          <a:ln w="31750">
            <a:solidFill>
              <a:srgbClr val="C9892F"/>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8412480" cy="914400"/>
        </p:xfrm>
        <a:graphic>
          <a:graphicData uri="http://schemas.openxmlformats.org/drawingml/2006/table">
            <a:tbl>
              <a:tblPr/>
              <a:tblGrid>
                <a:gridCol w="1188720"/>
                <a:gridCol w="2404872"/>
                <a:gridCol w="2404872"/>
                <a:gridCol w="2414016"/>
              </a:tblGrid>
              <a:tr h="457200">
                <a:tc>
                  <a:txBody>
                    <a:bodyPr/>
                    <a:lstStyle/>
                    <a:p>
                      <a:pPr algn="ctr" indent="0" marL="0">
                        <a:buNone/>
                      </a:pP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1F3A5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Proactive · mutation</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2E6FB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Proactive · cron sweep</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2E6FB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On-demand · chat</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2C8C99"/>
                    </a:solidFill>
                  </a:tcPr>
                </a:tc>
              </a:tr>
              <a:tr h="502920">
                <a:tc>
                  <a:txBody>
                    <a:bodyPr/>
                    <a:lstStyle/>
                    <a:p>
                      <a:pPr indent="0" marL="0">
                        <a:buNone/>
                      </a:pPr>
                      <a:r>
                        <a:rPr lang="en-US" sz="1100" b="1" dirty="0">
                          <a:solidFill>
                            <a:srgbClr val="1F3A5F"/>
                          </a:solidFill>
                          <a:latin typeface="Arial" pitchFamily="34" charset="0"/>
                          <a:ea typeface="Arial" pitchFamily="34" charset="-122"/>
                          <a:cs typeface="Arial" pitchFamily="34" charset="-120"/>
                        </a:rPr>
                        <a:t>Trigger</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EAEFF4"/>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Doc changed in Ship (debounced)</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Scheduled sweep</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User asks from a doc view</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1F3A5F"/>
                          </a:solidFill>
                          <a:latin typeface="Arial" pitchFamily="34" charset="0"/>
                          <a:ea typeface="Arial" pitchFamily="34" charset="-122"/>
                          <a:cs typeface="Arial" pitchFamily="34" charset="-120"/>
                        </a:rPr>
                        <a:t>Actor</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EAEFF4"/>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system (no user)</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system (no user)</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the asking user</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r>
              <a:tr h="502920">
                <a:tc>
                  <a:txBody>
                    <a:bodyPr/>
                    <a:lstStyle/>
                    <a:p>
                      <a:pPr indent="0" marL="0">
                        <a:buNone/>
                      </a:pPr>
                      <a:r>
                        <a:rPr lang="en-US" sz="1100" b="1" dirty="0">
                          <a:solidFill>
                            <a:srgbClr val="1F3A5F"/>
                          </a:solidFill>
                          <a:latin typeface="Arial" pitchFamily="34" charset="0"/>
                          <a:ea typeface="Arial" pitchFamily="34" charset="-122"/>
                          <a:cs typeface="Arial" pitchFamily="34" charset="-120"/>
                        </a:rPr>
                        <a:t>Scope</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EAEFF4"/>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the single changed doc</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active sprints / workspace</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useCurrentDocument() view</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F3A5F"/>
                          </a:solidFill>
                          <a:latin typeface="Arial" pitchFamily="34" charset="0"/>
                          <a:ea typeface="Arial" pitchFamily="34" charset="-122"/>
                          <a:cs typeface="Arial" pitchFamily="34" charset="-120"/>
                        </a:rPr>
                        <a:t>Catches</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EAEFF4"/>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changes, fast (&lt;1 min)</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absences: stale, overdue, missing</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any question + proposes action</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r>
              <a:tr h="502920">
                <a:tc>
                  <a:txBody>
                    <a:bodyPr/>
                    <a:lstStyle/>
                    <a:p>
                      <a:pPr indent="0" marL="0">
                        <a:buNone/>
                      </a:pPr>
                      <a:r>
                        <a:rPr lang="en-US" sz="1100" b="1" dirty="0">
                          <a:solidFill>
                            <a:srgbClr val="1F3A5F"/>
                          </a:solidFill>
                          <a:latin typeface="Arial" pitchFamily="34" charset="0"/>
                          <a:ea typeface="Arial" pitchFamily="34" charset="-122"/>
                          <a:cs typeface="Arial" pitchFamily="34" charset="-120"/>
                        </a:rPr>
                        <a:t>Ends at</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EAEFF4"/>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notify / HITL gate</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notify / HITL gate</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indent="0" marL="0">
                        <a:buNone/>
                      </a:pPr>
                      <a:r>
                        <a:rPr lang="en-US" sz="1100" dirty="0">
                          <a:solidFill>
                            <a:srgbClr val="1A2330"/>
                          </a:solidFill>
                          <a:latin typeface="Arial" pitchFamily="34" charset="0"/>
                          <a:ea typeface="Arial" pitchFamily="34" charset="-122"/>
                          <a:cs typeface="Arial" pitchFamily="34" charset="-120"/>
                        </a:rPr>
                        <a:t>chat answer (+ optional HITL)</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r>
            </a:tbl>
          </a:graphicData>
        </a:graphic>
      </p:graphicFrame>
      <p:sp>
        <p:nvSpPr>
          <p:cNvPr id="6" name="Text 3"/>
          <p:cNvSpPr/>
          <p:nvPr/>
        </p:nvSpPr>
        <p:spPr>
          <a:xfrm>
            <a:off x="365760" y="4434840"/>
            <a:ext cx="8412480" cy="365760"/>
          </a:xfrm>
          <a:prstGeom prst="rect">
            <a:avLst/>
          </a:prstGeom>
          <a:noFill/>
          <a:ln/>
        </p:spPr>
        <p:txBody>
          <a:bodyPr wrap="square" rtlCol="0" anchor="ctr"/>
          <a:lstStyle/>
          <a:p>
            <a:pPr indent="0" marL="0">
              <a:buNone/>
            </a:pPr>
            <a:r>
              <a:rPr lang="en-US" sz="1100" i="1" dirty="0">
                <a:solidFill>
                  <a:srgbClr val="5B6675"/>
                </a:solidFill>
                <a:latin typeface="Arial" pitchFamily="34" charset="0"/>
                <a:ea typeface="Arial" pitchFamily="34" charset="-122"/>
                <a:cs typeface="Arial" pitchFamily="34" charset="-120"/>
              </a:rPr>
              <a:t>One graph definition; the entry router reads `mode` and picks the lane. One set of LangSmith traces covers everything.</a:t>
            </a:r>
            <a:endParaRPr lang="en-US" sz="1100" dirty="0"/>
          </a:p>
        </p:txBody>
      </p:sp>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74320" y="164592"/>
            <a:ext cx="8595360" cy="274320"/>
          </a:xfrm>
          <a:prstGeom prst="rect">
            <a:avLst/>
          </a:prstGeom>
          <a:noFill/>
          <a:ln/>
        </p:spPr>
        <p:txBody>
          <a:bodyPr wrap="square" rtlCol="0" anchor="ctr"/>
          <a:lstStyle/>
          <a:p>
            <a:pPr indent="0" marL="0">
              <a:buNone/>
            </a:pPr>
            <a:r>
              <a:rPr lang="en-US" sz="1100" b="1" spc="200" kern="0" dirty="0">
                <a:solidFill>
                  <a:srgbClr val="2E6FB7"/>
                </a:solidFill>
                <a:latin typeface="Arial" pitchFamily="34" charset="0"/>
                <a:ea typeface="Arial" pitchFamily="34" charset="-122"/>
                <a:cs typeface="Arial" pitchFamily="34" charset="-120"/>
              </a:rPr>
              <a:t>THE GRAPH</a:t>
            </a:r>
            <a:endParaRPr lang="en-US" sz="1100" dirty="0"/>
          </a:p>
        </p:txBody>
      </p:sp>
      <p:sp>
        <p:nvSpPr>
          <p:cNvPr id="3" name="Text 1"/>
          <p:cNvSpPr/>
          <p:nvPr/>
        </p:nvSpPr>
        <p:spPr>
          <a:xfrm>
            <a:off x="274320" y="384048"/>
            <a:ext cx="8595360" cy="548640"/>
          </a:xfrm>
          <a:prstGeom prst="rect">
            <a:avLst/>
          </a:prstGeom>
          <a:noFill/>
          <a:ln/>
        </p:spPr>
        <p:txBody>
          <a:bodyPr wrap="square" rtlCol="0" anchor="ctr"/>
          <a:lstStyle/>
          <a:p>
            <a:pPr indent="0" marL="0">
              <a:buNone/>
            </a:pPr>
            <a:r>
              <a:rPr lang="en-US" sz="2400" b="1" dirty="0">
                <a:solidFill>
                  <a:srgbClr val="1F3A5F"/>
                </a:solidFill>
                <a:latin typeface="Arial" pitchFamily="34" charset="0"/>
                <a:ea typeface="Arial" pitchFamily="34" charset="-122"/>
                <a:cs typeface="Arial" pitchFamily="34" charset="-120"/>
              </a:rPr>
              <a:t>Context → parallel fetch → detect → reason → act</a:t>
            </a:r>
            <a:endParaRPr lang="en-US" sz="2400" dirty="0"/>
          </a:p>
        </p:txBody>
      </p:sp>
      <p:sp>
        <p:nvSpPr>
          <p:cNvPr id="4" name="Shape 2"/>
          <p:cNvSpPr/>
          <p:nvPr/>
        </p:nvSpPr>
        <p:spPr>
          <a:xfrm>
            <a:off x="292608" y="950976"/>
            <a:ext cx="1005840" cy="0"/>
          </a:xfrm>
          <a:prstGeom prst="line">
            <a:avLst/>
          </a:prstGeom>
          <a:noFill/>
          <a:ln w="31750">
            <a:solidFill>
              <a:srgbClr val="C9892F"/>
            </a:solidFill>
            <a:prstDash val="solid"/>
          </a:ln>
        </p:spPr>
      </p:sp>
      <p:sp>
        <p:nvSpPr>
          <p:cNvPr id="5" name="Shape 3"/>
          <p:cNvSpPr/>
          <p:nvPr/>
        </p:nvSpPr>
        <p:spPr>
          <a:xfrm>
            <a:off x="256032" y="1097280"/>
            <a:ext cx="1371600" cy="457200"/>
          </a:xfrm>
          <a:prstGeom prst="roundRect">
            <a:avLst>
              <a:gd name="adj" fmla="val 12000"/>
            </a:avLst>
          </a:prstGeom>
          <a:solidFill>
            <a:srgbClr val="5B6675"/>
          </a:solidFill>
          <a:ln w="12700">
            <a:solidFill>
              <a:srgbClr val="5B6675"/>
            </a:solidFill>
            <a:prstDash val="solid"/>
          </a:ln>
          <a:effectLst>
            <a:outerShdw sx="100000" sy="100000" kx="0" ky="0" algn="bl" rotWithShape="0" blurRad="38100" dist="12700" dir="5400000">
              <a:srgbClr val="9AA6B2">
                <a:alpha val="35000"/>
              </a:srgbClr>
            </a:outerShdw>
          </a:effectLst>
        </p:spPr>
      </p:sp>
      <p:sp>
        <p:nvSpPr>
          <p:cNvPr id="6" name="Text 4"/>
          <p:cNvSpPr/>
          <p:nvPr/>
        </p:nvSpPr>
        <p:spPr>
          <a:xfrm>
            <a:off x="256032" y="1097280"/>
            <a:ext cx="1371600" cy="457200"/>
          </a:xfrm>
          <a:prstGeom prst="rect">
            <a:avLst/>
          </a:prstGeom>
          <a:noFill/>
          <a:ln/>
        </p:spPr>
        <p:txBody>
          <a:bodyPr wrap="square" rtlCol="0" anchor="ctr"/>
          <a:lstStyle/>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Trigger</a:t>
            </a:r>
            <a:endParaRPr lang="en-US" sz="800" dirty="0"/>
          </a:p>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mutation · cron · chat</a:t>
            </a:r>
            <a:endParaRPr lang="en-US" sz="800" dirty="0"/>
          </a:p>
        </p:txBody>
      </p:sp>
      <p:sp>
        <p:nvSpPr>
          <p:cNvPr id="7" name="Shape 5"/>
          <p:cNvSpPr/>
          <p:nvPr/>
        </p:nvSpPr>
        <p:spPr>
          <a:xfrm>
            <a:off x="1737360" y="1097280"/>
            <a:ext cx="1371600" cy="457200"/>
          </a:xfrm>
          <a:prstGeom prst="roundRect">
            <a:avLst>
              <a:gd name="adj" fmla="val 12000"/>
            </a:avLst>
          </a:prstGeom>
          <a:solidFill>
            <a:srgbClr val="1F3A5F"/>
          </a:solidFill>
          <a:ln w="12700">
            <a:solidFill>
              <a:srgbClr val="1F3A5F"/>
            </a:solidFill>
            <a:prstDash val="solid"/>
          </a:ln>
          <a:effectLst>
            <a:outerShdw sx="100000" sy="100000" kx="0" ky="0" algn="bl" rotWithShape="0" blurRad="38100" dist="12700" dir="5400000">
              <a:srgbClr val="9AA6B2">
                <a:alpha val="35000"/>
              </a:srgbClr>
            </a:outerShdw>
          </a:effectLst>
        </p:spPr>
      </p:sp>
      <p:sp>
        <p:nvSpPr>
          <p:cNvPr id="8" name="Text 6"/>
          <p:cNvSpPr/>
          <p:nvPr/>
        </p:nvSpPr>
        <p:spPr>
          <a:xfrm>
            <a:off x="1737360" y="1097280"/>
            <a:ext cx="1371600" cy="457200"/>
          </a:xfrm>
          <a:prstGeom prst="rect">
            <a:avLst/>
          </a:prstGeom>
          <a:noFill/>
          <a:ln/>
        </p:spPr>
        <p:txBody>
          <a:bodyPr wrap="square" rtlCol="0" anchor="ctr"/>
          <a:lstStyle/>
          <a:p>
            <a:pPr algn="ctr" indent="0" marL="0">
              <a:lnSpc>
                <a:spcPct val="90000"/>
              </a:lnSpc>
              <a:buNone/>
            </a:pPr>
            <a:r>
              <a:rPr lang="en-US" sz="850" b="1" dirty="0">
                <a:solidFill>
                  <a:srgbClr val="FFFFFF"/>
                </a:solidFill>
                <a:latin typeface="Arial" pitchFamily="34" charset="0"/>
                <a:ea typeface="Arial" pitchFamily="34" charset="-122"/>
                <a:cs typeface="Arial" pitchFamily="34" charset="-120"/>
              </a:rPr>
              <a:t>entryRouter</a:t>
            </a:r>
            <a:endParaRPr lang="en-US" sz="850" dirty="0"/>
          </a:p>
          <a:p>
            <a:pPr algn="ctr" indent="0" marL="0">
              <a:lnSpc>
                <a:spcPct val="90000"/>
              </a:lnSpc>
              <a:buNone/>
            </a:pPr>
            <a:r>
              <a:rPr lang="en-US" sz="850" b="1" dirty="0">
                <a:solidFill>
                  <a:srgbClr val="FFFFFF"/>
                </a:solidFill>
                <a:latin typeface="Arial" pitchFamily="34" charset="0"/>
                <a:ea typeface="Arial" pitchFamily="34" charset="-122"/>
                <a:cs typeface="Arial" pitchFamily="34" charset="-120"/>
              </a:rPr>
              <a:t>{ mode }</a:t>
            </a:r>
            <a:endParaRPr lang="en-US" sz="850" dirty="0"/>
          </a:p>
        </p:txBody>
      </p:sp>
      <p:sp>
        <p:nvSpPr>
          <p:cNvPr id="9" name="Shape 7"/>
          <p:cNvSpPr/>
          <p:nvPr/>
        </p:nvSpPr>
        <p:spPr>
          <a:xfrm>
            <a:off x="3218688" y="1097280"/>
            <a:ext cx="1371600" cy="621792"/>
          </a:xfrm>
          <a:prstGeom prst="roundRect">
            <a:avLst>
              <a:gd name="adj" fmla="val 8824"/>
            </a:avLst>
          </a:prstGeom>
          <a:solidFill>
            <a:srgbClr val="2C8C99"/>
          </a:solidFill>
          <a:ln w="12700">
            <a:solidFill>
              <a:srgbClr val="2C8C99"/>
            </a:solidFill>
            <a:prstDash val="solid"/>
          </a:ln>
          <a:effectLst>
            <a:outerShdw sx="100000" sy="100000" kx="0" ky="0" algn="bl" rotWithShape="0" blurRad="38100" dist="12700" dir="5400000">
              <a:srgbClr val="9AA6B2">
                <a:alpha val="35000"/>
              </a:srgbClr>
            </a:outerShdw>
          </a:effectLst>
        </p:spPr>
      </p:sp>
      <p:sp>
        <p:nvSpPr>
          <p:cNvPr id="10" name="Text 8"/>
          <p:cNvSpPr/>
          <p:nvPr/>
        </p:nvSpPr>
        <p:spPr>
          <a:xfrm>
            <a:off x="3218688" y="1097280"/>
            <a:ext cx="1371600" cy="621792"/>
          </a:xfrm>
          <a:prstGeom prst="rect">
            <a:avLst/>
          </a:prstGeom>
          <a:noFill/>
          <a:ln/>
        </p:spPr>
        <p:txBody>
          <a:bodyPr wrap="square" rtlCol="0" anchor="ctr"/>
          <a:lstStyle/>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Parallel Fetch ×7</a:t>
            </a:r>
            <a:endParaRPr lang="en-US" sz="800" dirty="0"/>
          </a:p>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read-only REST / MCP</a:t>
            </a:r>
            <a:endParaRPr lang="en-US" sz="800" dirty="0"/>
          </a:p>
        </p:txBody>
      </p:sp>
      <p:sp>
        <p:nvSpPr>
          <p:cNvPr id="11" name="Shape 9"/>
          <p:cNvSpPr/>
          <p:nvPr/>
        </p:nvSpPr>
        <p:spPr>
          <a:xfrm>
            <a:off x="4700016" y="1097280"/>
            <a:ext cx="1371600" cy="457200"/>
          </a:xfrm>
          <a:prstGeom prst="roundRect">
            <a:avLst>
              <a:gd name="adj" fmla="val 12000"/>
            </a:avLst>
          </a:prstGeom>
          <a:solidFill>
            <a:srgbClr val="2E6FB7"/>
          </a:solidFill>
          <a:ln w="12700">
            <a:solidFill>
              <a:srgbClr val="2E6FB7"/>
            </a:solidFill>
            <a:prstDash val="solid"/>
          </a:ln>
          <a:effectLst>
            <a:outerShdw sx="100000" sy="100000" kx="0" ky="0" algn="bl" rotWithShape="0" blurRad="38100" dist="12700" dir="5400000">
              <a:srgbClr val="9AA6B2">
                <a:alpha val="35000"/>
              </a:srgbClr>
            </a:outerShdw>
          </a:effectLst>
        </p:spPr>
      </p:sp>
      <p:sp>
        <p:nvSpPr>
          <p:cNvPr id="12" name="Text 10"/>
          <p:cNvSpPr/>
          <p:nvPr/>
        </p:nvSpPr>
        <p:spPr>
          <a:xfrm>
            <a:off x="4700016" y="1097280"/>
            <a:ext cx="1371600" cy="457200"/>
          </a:xfrm>
          <a:prstGeom prst="rect">
            <a:avLst/>
          </a:prstGeom>
          <a:noFill/>
          <a:ln/>
        </p:spPr>
        <p:txBody>
          <a:bodyPr wrap="square" rtlCol="0" anchor="ctr"/>
          <a:lstStyle/>
          <a:p>
            <a:pPr algn="ctr" indent="0" marL="0">
              <a:lnSpc>
                <a:spcPct val="90000"/>
              </a:lnSpc>
              <a:buNone/>
            </a:pPr>
            <a:r>
              <a:rPr lang="en-US" sz="850" b="1" dirty="0">
                <a:solidFill>
                  <a:srgbClr val="FFFFFF"/>
                </a:solidFill>
                <a:latin typeface="Arial" pitchFamily="34" charset="0"/>
                <a:ea typeface="Arial" pitchFamily="34" charset="-122"/>
                <a:cs typeface="Arial" pitchFamily="34" charset="-120"/>
              </a:rPr>
              <a:t>detectSignals</a:t>
            </a:r>
            <a:endParaRPr lang="en-US" sz="850" dirty="0"/>
          </a:p>
          <a:p>
            <a:pPr algn="ctr" indent="0" marL="0">
              <a:lnSpc>
                <a:spcPct val="90000"/>
              </a:lnSpc>
              <a:buNone/>
            </a:pPr>
            <a:r>
              <a:rPr lang="en-US" sz="850" b="1" dirty="0">
                <a:solidFill>
                  <a:srgbClr val="FFFFFF"/>
                </a:solidFill>
                <a:latin typeface="Arial" pitchFamily="34" charset="0"/>
                <a:ea typeface="Arial" pitchFamily="34" charset="-122"/>
                <a:cs typeface="Arial" pitchFamily="34" charset="-120"/>
              </a:rPr>
              <a:t>rules — no LLM</a:t>
            </a:r>
            <a:endParaRPr lang="en-US" sz="850" dirty="0"/>
          </a:p>
        </p:txBody>
      </p:sp>
      <p:sp>
        <p:nvSpPr>
          <p:cNvPr id="13" name="Shape 11"/>
          <p:cNvSpPr/>
          <p:nvPr/>
        </p:nvSpPr>
        <p:spPr>
          <a:xfrm>
            <a:off x="6181344" y="1097280"/>
            <a:ext cx="1371600" cy="457200"/>
          </a:xfrm>
          <a:prstGeom prst="roundRect">
            <a:avLst>
              <a:gd name="adj" fmla="val 12000"/>
            </a:avLst>
          </a:prstGeom>
          <a:solidFill>
            <a:srgbClr val="2E6FB7"/>
          </a:solidFill>
          <a:ln w="12700">
            <a:solidFill>
              <a:srgbClr val="2E6FB7"/>
            </a:solidFill>
            <a:prstDash val="solid"/>
          </a:ln>
          <a:effectLst>
            <a:outerShdw sx="100000" sy="100000" kx="0" ky="0" algn="bl" rotWithShape="0" blurRad="38100" dist="12700" dir="5400000">
              <a:srgbClr val="9AA6B2">
                <a:alpha val="35000"/>
              </a:srgbClr>
            </a:outerShdw>
          </a:effectLst>
        </p:spPr>
      </p:sp>
      <p:sp>
        <p:nvSpPr>
          <p:cNvPr id="14" name="Text 12"/>
          <p:cNvSpPr/>
          <p:nvPr/>
        </p:nvSpPr>
        <p:spPr>
          <a:xfrm>
            <a:off x="6181344" y="1097280"/>
            <a:ext cx="1371600" cy="457200"/>
          </a:xfrm>
          <a:prstGeom prst="rect">
            <a:avLst/>
          </a:prstGeom>
          <a:noFill/>
          <a:ln/>
        </p:spPr>
        <p:txBody>
          <a:bodyPr wrap="square" rtlCol="0" anchor="ctr"/>
          <a:lstStyle/>
          <a:p>
            <a:pPr algn="ctr" indent="0" marL="0">
              <a:lnSpc>
                <a:spcPct val="90000"/>
              </a:lnSpc>
              <a:buNone/>
            </a:pPr>
            <a:r>
              <a:rPr lang="en-US" sz="850" b="1" dirty="0">
                <a:solidFill>
                  <a:srgbClr val="FFFFFF"/>
                </a:solidFill>
                <a:latin typeface="Arial" pitchFamily="34" charset="0"/>
                <a:ea typeface="Arial" pitchFamily="34" charset="-122"/>
                <a:cs typeface="Arial" pitchFamily="34" charset="-120"/>
              </a:rPr>
              <a:t>dedupFilter</a:t>
            </a:r>
            <a:endParaRPr lang="en-US" sz="850" dirty="0"/>
          </a:p>
          <a:p>
            <a:pPr algn="ctr" indent="0" marL="0">
              <a:lnSpc>
                <a:spcPct val="90000"/>
              </a:lnSpc>
              <a:buNone/>
            </a:pPr>
            <a:r>
              <a:rPr lang="en-US" sz="850" b="1" dirty="0">
                <a:solidFill>
                  <a:srgbClr val="FFFFFF"/>
                </a:solidFill>
                <a:latin typeface="Arial" pitchFamily="34" charset="0"/>
                <a:ea typeface="Arial" pitchFamily="34" charset="-122"/>
                <a:cs typeface="Arial" pitchFamily="34" charset="-120"/>
              </a:rPr>
              <a:t>{ novel? }</a:t>
            </a:r>
            <a:endParaRPr lang="en-US" sz="850" dirty="0"/>
          </a:p>
        </p:txBody>
      </p:sp>
      <p:sp>
        <p:nvSpPr>
          <p:cNvPr id="15" name="Shape 13"/>
          <p:cNvSpPr/>
          <p:nvPr/>
        </p:nvSpPr>
        <p:spPr>
          <a:xfrm>
            <a:off x="7662672" y="1078992"/>
            <a:ext cx="1371600" cy="457200"/>
          </a:xfrm>
          <a:prstGeom prst="roundRect">
            <a:avLst>
              <a:gd name="adj" fmla="val 12000"/>
            </a:avLst>
          </a:prstGeom>
          <a:solidFill>
            <a:srgbClr val="2E7D5B"/>
          </a:solidFill>
          <a:ln w="12700">
            <a:solidFill>
              <a:srgbClr val="2E7D5B"/>
            </a:solidFill>
            <a:prstDash val="solid"/>
          </a:ln>
          <a:effectLst>
            <a:outerShdw sx="100000" sy="100000" kx="0" ky="0" algn="bl" rotWithShape="0" blurRad="38100" dist="12700" dir="5400000">
              <a:srgbClr val="9AA6B2">
                <a:alpha val="35000"/>
              </a:srgbClr>
            </a:outerShdw>
          </a:effectLst>
        </p:spPr>
      </p:sp>
      <p:sp>
        <p:nvSpPr>
          <p:cNvPr id="16" name="Text 14"/>
          <p:cNvSpPr/>
          <p:nvPr/>
        </p:nvSpPr>
        <p:spPr>
          <a:xfrm>
            <a:off x="7662672" y="1078992"/>
            <a:ext cx="1371600" cy="457200"/>
          </a:xfrm>
          <a:prstGeom prst="rect">
            <a:avLst/>
          </a:prstGeom>
          <a:noFill/>
          <a:ln/>
        </p:spPr>
        <p:txBody>
          <a:bodyPr wrap="square" rtlCol="0" anchor="ctr"/>
          <a:lstStyle/>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END · quiet</a:t>
            </a:r>
            <a:endParaRPr lang="en-US" sz="800" dirty="0"/>
          </a:p>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no LLM call</a:t>
            </a:r>
            <a:endParaRPr lang="en-US" sz="800" dirty="0"/>
          </a:p>
        </p:txBody>
      </p:sp>
      <p:sp>
        <p:nvSpPr>
          <p:cNvPr id="17" name="Shape 15"/>
          <p:cNvSpPr/>
          <p:nvPr/>
        </p:nvSpPr>
        <p:spPr>
          <a:xfrm>
            <a:off x="1627632" y="1325880"/>
            <a:ext cx="109728" cy="0"/>
          </a:xfrm>
          <a:prstGeom prst="line">
            <a:avLst/>
          </a:prstGeom>
          <a:noFill/>
          <a:ln w="19050">
            <a:solidFill>
              <a:srgbClr val="5B6675"/>
            </a:solidFill>
            <a:prstDash val="solid"/>
            <a:headEnd type="none"/>
            <a:tailEnd type="triangle"/>
          </a:ln>
        </p:spPr>
      </p:sp>
      <p:sp>
        <p:nvSpPr>
          <p:cNvPr id="18" name="Shape 16"/>
          <p:cNvSpPr/>
          <p:nvPr/>
        </p:nvSpPr>
        <p:spPr>
          <a:xfrm>
            <a:off x="3108960" y="1325880"/>
            <a:ext cx="109728" cy="0"/>
          </a:xfrm>
          <a:prstGeom prst="line">
            <a:avLst/>
          </a:prstGeom>
          <a:noFill/>
          <a:ln w="19050">
            <a:solidFill>
              <a:srgbClr val="5B6675"/>
            </a:solidFill>
            <a:prstDash val="solid"/>
            <a:headEnd type="none"/>
            <a:tailEnd type="triangle"/>
          </a:ln>
        </p:spPr>
      </p:sp>
      <p:sp>
        <p:nvSpPr>
          <p:cNvPr id="19" name="Shape 17"/>
          <p:cNvSpPr/>
          <p:nvPr/>
        </p:nvSpPr>
        <p:spPr>
          <a:xfrm>
            <a:off x="4590288" y="1325880"/>
            <a:ext cx="109728" cy="0"/>
          </a:xfrm>
          <a:prstGeom prst="line">
            <a:avLst/>
          </a:prstGeom>
          <a:noFill/>
          <a:ln w="19050">
            <a:solidFill>
              <a:srgbClr val="5B6675"/>
            </a:solidFill>
            <a:prstDash val="solid"/>
            <a:headEnd type="none"/>
            <a:tailEnd type="triangle"/>
          </a:ln>
        </p:spPr>
      </p:sp>
      <p:sp>
        <p:nvSpPr>
          <p:cNvPr id="20" name="Shape 18"/>
          <p:cNvSpPr/>
          <p:nvPr/>
        </p:nvSpPr>
        <p:spPr>
          <a:xfrm>
            <a:off x="6071616" y="1325880"/>
            <a:ext cx="109728" cy="0"/>
          </a:xfrm>
          <a:prstGeom prst="line">
            <a:avLst/>
          </a:prstGeom>
          <a:noFill/>
          <a:ln w="19050">
            <a:solidFill>
              <a:srgbClr val="5B6675"/>
            </a:solidFill>
            <a:prstDash val="solid"/>
            <a:headEnd type="none"/>
            <a:tailEnd type="triangle"/>
          </a:ln>
        </p:spPr>
      </p:sp>
      <p:sp>
        <p:nvSpPr>
          <p:cNvPr id="21" name="Shape 19"/>
          <p:cNvSpPr/>
          <p:nvPr/>
        </p:nvSpPr>
        <p:spPr>
          <a:xfrm>
            <a:off x="7552944" y="1325880"/>
            <a:ext cx="109728" cy="0"/>
          </a:xfrm>
          <a:prstGeom prst="line">
            <a:avLst/>
          </a:prstGeom>
          <a:noFill/>
          <a:ln w="19050">
            <a:solidFill>
              <a:srgbClr val="2E7D5B"/>
            </a:solidFill>
            <a:prstDash val="solid"/>
            <a:headEnd type="none"/>
            <a:tailEnd type="triangle"/>
          </a:ln>
        </p:spPr>
      </p:sp>
      <p:sp>
        <p:nvSpPr>
          <p:cNvPr id="22" name="Text 20"/>
          <p:cNvSpPr/>
          <p:nvPr/>
        </p:nvSpPr>
        <p:spPr>
          <a:xfrm>
            <a:off x="7507224" y="1033272"/>
            <a:ext cx="822960" cy="274320"/>
          </a:xfrm>
          <a:prstGeom prst="rect">
            <a:avLst/>
          </a:prstGeom>
          <a:noFill/>
          <a:ln/>
        </p:spPr>
        <p:txBody>
          <a:bodyPr wrap="square" rtlCol="0" anchor="ctr"/>
          <a:lstStyle/>
          <a:p>
            <a:pPr algn="ctr" indent="0" marL="0">
              <a:buNone/>
            </a:pPr>
            <a:r>
              <a:rPr lang="en-US" sz="750" i="1" dirty="0">
                <a:solidFill>
                  <a:srgbClr val="2E7D5B"/>
                </a:solidFill>
                <a:latin typeface="Arial" pitchFamily="34" charset="0"/>
                <a:ea typeface="Arial" pitchFamily="34" charset="-122"/>
                <a:cs typeface="Arial" pitchFamily="34" charset="-120"/>
              </a:rPr>
              <a:t>novel=0</a:t>
            </a:r>
            <a:endParaRPr lang="en-US" sz="750" dirty="0"/>
          </a:p>
        </p:txBody>
      </p:sp>
      <p:sp>
        <p:nvSpPr>
          <p:cNvPr id="23" name="Shape 21"/>
          <p:cNvSpPr/>
          <p:nvPr/>
        </p:nvSpPr>
        <p:spPr>
          <a:xfrm>
            <a:off x="2423160" y="1554480"/>
            <a:ext cx="1481328" cy="594360"/>
          </a:xfrm>
          <a:prstGeom prst="line">
            <a:avLst/>
          </a:prstGeom>
          <a:noFill/>
          <a:ln w="19050">
            <a:solidFill>
              <a:srgbClr val="2C8C99"/>
            </a:solidFill>
            <a:prstDash val="dash"/>
            <a:headEnd type="none"/>
            <a:tailEnd type="triangle"/>
          </a:ln>
        </p:spPr>
      </p:sp>
      <p:sp>
        <p:nvSpPr>
          <p:cNvPr id="24" name="Text 22"/>
          <p:cNvSpPr/>
          <p:nvPr/>
        </p:nvSpPr>
        <p:spPr>
          <a:xfrm>
            <a:off x="1783080" y="1737360"/>
            <a:ext cx="914400" cy="274320"/>
          </a:xfrm>
          <a:prstGeom prst="rect">
            <a:avLst/>
          </a:prstGeom>
          <a:noFill/>
          <a:ln/>
        </p:spPr>
        <p:txBody>
          <a:bodyPr wrap="square" rtlCol="0" anchor="ctr"/>
          <a:lstStyle/>
          <a:p>
            <a:pPr algn="l" indent="0" marL="0">
              <a:buNone/>
            </a:pPr>
            <a:r>
              <a:rPr lang="en-US" sz="750" i="1" dirty="0">
                <a:solidFill>
                  <a:srgbClr val="2C8C99"/>
                </a:solidFill>
                <a:latin typeface="Arial" pitchFamily="34" charset="0"/>
                <a:ea typeface="Arial" pitchFamily="34" charset="-122"/>
                <a:cs typeface="Arial" pitchFamily="34" charset="-120"/>
              </a:rPr>
              <a:t>ondemand</a:t>
            </a:r>
            <a:endParaRPr lang="en-US" sz="750" dirty="0"/>
          </a:p>
        </p:txBody>
      </p:sp>
      <p:sp>
        <p:nvSpPr>
          <p:cNvPr id="25" name="Shape 23"/>
          <p:cNvSpPr/>
          <p:nvPr/>
        </p:nvSpPr>
        <p:spPr>
          <a:xfrm>
            <a:off x="6181344" y="2148840"/>
            <a:ext cx="1371600" cy="457200"/>
          </a:xfrm>
          <a:prstGeom prst="roundRect">
            <a:avLst>
              <a:gd name="adj" fmla="val 12000"/>
            </a:avLst>
          </a:prstGeom>
          <a:solidFill>
            <a:srgbClr val="C9892F"/>
          </a:solidFill>
          <a:ln w="12700">
            <a:solidFill>
              <a:srgbClr val="C9892F"/>
            </a:solidFill>
            <a:prstDash val="solid"/>
          </a:ln>
          <a:effectLst>
            <a:outerShdw sx="100000" sy="100000" kx="0" ky="0" algn="bl" rotWithShape="0" blurRad="38100" dist="12700" dir="5400000">
              <a:srgbClr val="9AA6B2">
                <a:alpha val="35000"/>
              </a:srgbClr>
            </a:outerShdw>
          </a:effectLst>
        </p:spPr>
      </p:sp>
      <p:sp>
        <p:nvSpPr>
          <p:cNvPr id="26" name="Text 24"/>
          <p:cNvSpPr/>
          <p:nvPr/>
        </p:nvSpPr>
        <p:spPr>
          <a:xfrm>
            <a:off x="6181344" y="2148840"/>
            <a:ext cx="1371600" cy="457200"/>
          </a:xfrm>
          <a:prstGeom prst="rect">
            <a:avLst/>
          </a:prstGeom>
          <a:noFill/>
          <a:ln/>
        </p:spPr>
        <p:txBody>
          <a:bodyPr wrap="square" rtlCol="0" anchor="ctr"/>
          <a:lstStyle/>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triageSignals</a:t>
            </a:r>
            <a:endParaRPr lang="en-US" sz="800" dirty="0"/>
          </a:p>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Haiku (T1) · batched</a:t>
            </a:r>
            <a:endParaRPr lang="en-US" sz="800" dirty="0"/>
          </a:p>
        </p:txBody>
      </p:sp>
      <p:sp>
        <p:nvSpPr>
          <p:cNvPr id="27" name="Shape 25"/>
          <p:cNvSpPr/>
          <p:nvPr/>
        </p:nvSpPr>
        <p:spPr>
          <a:xfrm>
            <a:off x="4700016" y="2148840"/>
            <a:ext cx="1371600" cy="457200"/>
          </a:xfrm>
          <a:prstGeom prst="roundRect">
            <a:avLst>
              <a:gd name="adj" fmla="val 12000"/>
            </a:avLst>
          </a:prstGeom>
          <a:solidFill>
            <a:srgbClr val="C9892F"/>
          </a:solidFill>
          <a:ln w="12700">
            <a:solidFill>
              <a:srgbClr val="C9892F"/>
            </a:solidFill>
            <a:prstDash val="solid"/>
          </a:ln>
          <a:effectLst>
            <a:outerShdw sx="100000" sy="100000" kx="0" ky="0" algn="bl" rotWithShape="0" blurRad="38100" dist="12700" dir="5400000">
              <a:srgbClr val="9AA6B2">
                <a:alpha val="35000"/>
              </a:srgbClr>
            </a:outerShdw>
          </a:effectLst>
        </p:spPr>
      </p:sp>
      <p:sp>
        <p:nvSpPr>
          <p:cNvPr id="28" name="Text 26"/>
          <p:cNvSpPr/>
          <p:nvPr/>
        </p:nvSpPr>
        <p:spPr>
          <a:xfrm>
            <a:off x="4700016" y="2148840"/>
            <a:ext cx="1371600" cy="457200"/>
          </a:xfrm>
          <a:prstGeom prst="rect">
            <a:avLst/>
          </a:prstGeom>
          <a:noFill/>
          <a:ln/>
        </p:spPr>
        <p:txBody>
          <a:bodyPr wrap="square" rtlCol="0" anchor="ctr"/>
          <a:lstStyle/>
          <a:p>
            <a:pPr algn="ctr" indent="0" marL="0">
              <a:lnSpc>
                <a:spcPct val="90000"/>
              </a:lnSpc>
              <a:buNone/>
            </a:pPr>
            <a:r>
              <a:rPr lang="en-US" sz="850" b="1" dirty="0">
                <a:solidFill>
                  <a:srgbClr val="FFFFFF"/>
                </a:solidFill>
                <a:latin typeface="Arial" pitchFamily="34" charset="0"/>
                <a:ea typeface="Arial" pitchFamily="34" charset="-122"/>
                <a:cs typeface="Arial" pitchFamily="34" charset="-120"/>
              </a:rPr>
              <a:t>reasonAndDraft</a:t>
            </a:r>
            <a:endParaRPr lang="en-US" sz="850" dirty="0"/>
          </a:p>
          <a:p>
            <a:pPr algn="ctr" indent="0" marL="0">
              <a:lnSpc>
                <a:spcPct val="90000"/>
              </a:lnSpc>
              <a:buNone/>
            </a:pPr>
            <a:r>
              <a:rPr lang="en-US" sz="850" b="1" dirty="0">
                <a:solidFill>
                  <a:srgbClr val="FFFFFF"/>
                </a:solidFill>
                <a:latin typeface="Arial" pitchFamily="34" charset="0"/>
                <a:ea typeface="Arial" pitchFamily="34" charset="-122"/>
                <a:cs typeface="Arial" pitchFamily="34" charset="-120"/>
              </a:rPr>
              <a:t>Opus (T2)</a:t>
            </a:r>
            <a:endParaRPr lang="en-US" sz="850" dirty="0"/>
          </a:p>
        </p:txBody>
      </p:sp>
      <p:sp>
        <p:nvSpPr>
          <p:cNvPr id="29" name="Shape 27"/>
          <p:cNvSpPr/>
          <p:nvPr/>
        </p:nvSpPr>
        <p:spPr>
          <a:xfrm>
            <a:off x="3218688" y="2148840"/>
            <a:ext cx="1371600" cy="457200"/>
          </a:xfrm>
          <a:prstGeom prst="roundRect">
            <a:avLst>
              <a:gd name="adj" fmla="val 12000"/>
            </a:avLst>
          </a:prstGeom>
          <a:solidFill>
            <a:srgbClr val="2C8C99"/>
          </a:solidFill>
          <a:ln w="12700">
            <a:solidFill>
              <a:srgbClr val="2C8C99"/>
            </a:solidFill>
            <a:prstDash val="solid"/>
          </a:ln>
          <a:effectLst>
            <a:outerShdw sx="100000" sy="100000" kx="0" ky="0" algn="bl" rotWithShape="0" blurRad="38100" dist="12700" dir="5400000">
              <a:srgbClr val="9AA6B2">
                <a:alpha val="35000"/>
              </a:srgbClr>
            </a:outerShdw>
          </a:effectLst>
        </p:spPr>
      </p:sp>
      <p:sp>
        <p:nvSpPr>
          <p:cNvPr id="30" name="Text 28"/>
          <p:cNvSpPr/>
          <p:nvPr/>
        </p:nvSpPr>
        <p:spPr>
          <a:xfrm>
            <a:off x="3218688" y="2148840"/>
            <a:ext cx="1371600" cy="457200"/>
          </a:xfrm>
          <a:prstGeom prst="rect">
            <a:avLst/>
          </a:prstGeom>
          <a:noFill/>
          <a:ln/>
        </p:spPr>
        <p:txBody>
          <a:bodyPr wrap="square" rtlCol="0" anchor="ctr"/>
          <a:lstStyle/>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answerQuestion</a:t>
            </a:r>
            <a:endParaRPr lang="en-US" sz="800" dirty="0"/>
          </a:p>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Opus (T2) · chat</a:t>
            </a:r>
            <a:endParaRPr lang="en-US" sz="800" dirty="0"/>
          </a:p>
        </p:txBody>
      </p:sp>
      <p:sp>
        <p:nvSpPr>
          <p:cNvPr id="31" name="Shape 29"/>
          <p:cNvSpPr/>
          <p:nvPr/>
        </p:nvSpPr>
        <p:spPr>
          <a:xfrm>
            <a:off x="6867144" y="1554480"/>
            <a:ext cx="0" cy="594360"/>
          </a:xfrm>
          <a:prstGeom prst="line">
            <a:avLst/>
          </a:prstGeom>
          <a:noFill/>
          <a:ln w="19050">
            <a:solidFill>
              <a:srgbClr val="C0492B"/>
            </a:solidFill>
            <a:prstDash val="solid"/>
            <a:headEnd type="none"/>
            <a:tailEnd type="triangle"/>
          </a:ln>
        </p:spPr>
      </p:sp>
      <p:sp>
        <p:nvSpPr>
          <p:cNvPr id="32" name="Text 30"/>
          <p:cNvSpPr/>
          <p:nvPr/>
        </p:nvSpPr>
        <p:spPr>
          <a:xfrm>
            <a:off x="6940296" y="1600200"/>
            <a:ext cx="914400" cy="274320"/>
          </a:xfrm>
          <a:prstGeom prst="rect">
            <a:avLst/>
          </a:prstGeom>
          <a:noFill/>
          <a:ln/>
        </p:spPr>
        <p:txBody>
          <a:bodyPr wrap="square" rtlCol="0" anchor="ctr"/>
          <a:lstStyle/>
          <a:p>
            <a:pPr algn="l" indent="0" marL="0">
              <a:buNone/>
            </a:pPr>
            <a:r>
              <a:rPr lang="en-US" sz="750" i="1" dirty="0">
                <a:solidFill>
                  <a:srgbClr val="C0492B"/>
                </a:solidFill>
                <a:latin typeface="Arial" pitchFamily="34" charset="0"/>
                <a:ea typeface="Arial" pitchFamily="34" charset="-122"/>
                <a:cs typeface="Arial" pitchFamily="34" charset="-120"/>
              </a:rPr>
              <a:t>novel&gt;0</a:t>
            </a:r>
            <a:endParaRPr lang="en-US" sz="750" dirty="0"/>
          </a:p>
        </p:txBody>
      </p:sp>
      <p:sp>
        <p:nvSpPr>
          <p:cNvPr id="33" name="Shape 31"/>
          <p:cNvSpPr/>
          <p:nvPr/>
        </p:nvSpPr>
        <p:spPr>
          <a:xfrm>
            <a:off x="6181344" y="2377440"/>
            <a:ext cx="-109728" cy="0"/>
          </a:xfrm>
          <a:prstGeom prst="line">
            <a:avLst/>
          </a:prstGeom>
          <a:noFill/>
          <a:ln w="19050">
            <a:solidFill>
              <a:srgbClr val="5B6675"/>
            </a:solidFill>
            <a:prstDash val="solid"/>
            <a:headEnd type="none"/>
            <a:tailEnd type="triangle"/>
          </a:ln>
        </p:spPr>
      </p:sp>
      <p:sp>
        <p:nvSpPr>
          <p:cNvPr id="34" name="Shape 32"/>
          <p:cNvSpPr/>
          <p:nvPr/>
        </p:nvSpPr>
        <p:spPr>
          <a:xfrm>
            <a:off x="4700016" y="3200400"/>
            <a:ext cx="1371600" cy="457200"/>
          </a:xfrm>
          <a:prstGeom prst="roundRect">
            <a:avLst>
              <a:gd name="adj" fmla="val 12000"/>
            </a:avLst>
          </a:prstGeom>
          <a:solidFill>
            <a:srgbClr val="1F3A5F"/>
          </a:solidFill>
          <a:ln w="12700">
            <a:solidFill>
              <a:srgbClr val="1F3A5F"/>
            </a:solidFill>
            <a:prstDash val="solid"/>
          </a:ln>
          <a:effectLst>
            <a:outerShdw sx="100000" sy="100000" kx="0" ky="0" algn="bl" rotWithShape="0" blurRad="38100" dist="12700" dir="5400000">
              <a:srgbClr val="9AA6B2">
                <a:alpha val="35000"/>
              </a:srgbClr>
            </a:outerShdw>
          </a:effectLst>
        </p:spPr>
      </p:sp>
      <p:sp>
        <p:nvSpPr>
          <p:cNvPr id="35" name="Text 33"/>
          <p:cNvSpPr/>
          <p:nvPr/>
        </p:nvSpPr>
        <p:spPr>
          <a:xfrm>
            <a:off x="4700016" y="3200400"/>
            <a:ext cx="1371600" cy="457200"/>
          </a:xfrm>
          <a:prstGeom prst="rect">
            <a:avLst/>
          </a:prstGeom>
          <a:noFill/>
          <a:ln/>
        </p:spPr>
        <p:txBody>
          <a:bodyPr wrap="square" rtlCol="0" anchor="ctr"/>
          <a:lstStyle/>
          <a:p>
            <a:pPr algn="ctr" indent="0" marL="0">
              <a:lnSpc>
                <a:spcPct val="90000"/>
              </a:lnSpc>
              <a:buNone/>
            </a:pPr>
            <a:r>
              <a:rPr lang="en-US" sz="850" b="1" dirty="0">
                <a:solidFill>
                  <a:srgbClr val="FFFFFF"/>
                </a:solidFill>
                <a:latin typeface="Arial" pitchFamily="34" charset="0"/>
                <a:ea typeface="Arial" pitchFamily="34" charset="-122"/>
                <a:cs typeface="Arial" pitchFamily="34" charset="-120"/>
              </a:rPr>
              <a:t>classifyActions</a:t>
            </a:r>
            <a:endParaRPr lang="en-US" sz="850" dirty="0"/>
          </a:p>
          <a:p>
            <a:pPr algn="ctr" indent="0" marL="0">
              <a:lnSpc>
                <a:spcPct val="90000"/>
              </a:lnSpc>
              <a:buNone/>
            </a:pPr>
            <a:r>
              <a:rPr lang="en-US" sz="850" b="1" dirty="0">
                <a:solidFill>
                  <a:srgbClr val="FFFFFF"/>
                </a:solidFill>
                <a:latin typeface="Arial" pitchFamily="34" charset="0"/>
                <a:ea typeface="Arial" pitchFamily="34" charset="-122"/>
                <a:cs typeface="Arial" pitchFamily="34" charset="-120"/>
              </a:rPr>
              <a:t>{ autonomy }</a:t>
            </a:r>
            <a:endParaRPr lang="en-US" sz="850" dirty="0"/>
          </a:p>
        </p:txBody>
      </p:sp>
      <p:sp>
        <p:nvSpPr>
          <p:cNvPr id="36" name="Shape 34"/>
          <p:cNvSpPr/>
          <p:nvPr/>
        </p:nvSpPr>
        <p:spPr>
          <a:xfrm>
            <a:off x="5385816" y="2606040"/>
            <a:ext cx="0" cy="594360"/>
          </a:xfrm>
          <a:prstGeom prst="line">
            <a:avLst/>
          </a:prstGeom>
          <a:noFill/>
          <a:ln w="19050">
            <a:solidFill>
              <a:srgbClr val="5B6675"/>
            </a:solidFill>
            <a:prstDash val="solid"/>
            <a:headEnd type="none"/>
            <a:tailEnd type="triangle"/>
          </a:ln>
        </p:spPr>
      </p:sp>
      <p:sp>
        <p:nvSpPr>
          <p:cNvPr id="37" name="Shape 35"/>
          <p:cNvSpPr/>
          <p:nvPr/>
        </p:nvSpPr>
        <p:spPr>
          <a:xfrm>
            <a:off x="1737360" y="3200400"/>
            <a:ext cx="1371600" cy="457200"/>
          </a:xfrm>
          <a:prstGeom prst="roundRect">
            <a:avLst>
              <a:gd name="adj" fmla="val 12000"/>
            </a:avLst>
          </a:prstGeom>
          <a:solidFill>
            <a:srgbClr val="2C8C99"/>
          </a:solidFill>
          <a:ln w="12700">
            <a:solidFill>
              <a:srgbClr val="2C8C99"/>
            </a:solidFill>
            <a:prstDash val="solid"/>
          </a:ln>
          <a:effectLst>
            <a:outerShdw sx="100000" sy="100000" kx="0" ky="0" algn="bl" rotWithShape="0" blurRad="38100" dist="12700" dir="5400000">
              <a:srgbClr val="9AA6B2">
                <a:alpha val="35000"/>
              </a:srgbClr>
            </a:outerShdw>
          </a:effectLst>
        </p:spPr>
      </p:sp>
      <p:sp>
        <p:nvSpPr>
          <p:cNvPr id="38" name="Text 36"/>
          <p:cNvSpPr/>
          <p:nvPr/>
        </p:nvSpPr>
        <p:spPr>
          <a:xfrm>
            <a:off x="1737360" y="3200400"/>
            <a:ext cx="1371600" cy="457200"/>
          </a:xfrm>
          <a:prstGeom prst="rect">
            <a:avLst/>
          </a:prstGeom>
          <a:noFill/>
          <a:ln/>
        </p:spPr>
        <p:txBody>
          <a:bodyPr wrap="square" rtlCol="0" anchor="ctr"/>
          <a:lstStyle/>
          <a:p>
            <a:pPr algn="ctr" indent="0" marL="0">
              <a:lnSpc>
                <a:spcPct val="90000"/>
              </a:lnSpc>
              <a:buNone/>
            </a:pPr>
            <a:r>
              <a:rPr lang="en-US" sz="850" b="1" dirty="0">
                <a:solidFill>
                  <a:srgbClr val="FFFFFF"/>
                </a:solidFill>
                <a:latin typeface="Arial" pitchFamily="34" charset="0"/>
                <a:ea typeface="Arial" pitchFamily="34" charset="-122"/>
                <a:cs typeface="Arial" pitchFamily="34" charset="-120"/>
              </a:rPr>
              <a:t>respond</a:t>
            </a:r>
            <a:endParaRPr lang="en-US" sz="850" dirty="0"/>
          </a:p>
          <a:p>
            <a:pPr algn="ctr" indent="0" marL="0">
              <a:lnSpc>
                <a:spcPct val="90000"/>
              </a:lnSpc>
              <a:buNone/>
            </a:pPr>
            <a:r>
              <a:rPr lang="en-US" sz="850" b="1" dirty="0">
                <a:solidFill>
                  <a:srgbClr val="FFFFFF"/>
                </a:solidFill>
                <a:latin typeface="Arial" pitchFamily="34" charset="0"/>
                <a:ea typeface="Arial" pitchFamily="34" charset="-122"/>
                <a:cs typeface="Arial" pitchFamily="34" charset="-120"/>
              </a:rPr>
              <a:t>chat answer</a:t>
            </a:r>
            <a:endParaRPr lang="en-US" sz="850" dirty="0"/>
          </a:p>
        </p:txBody>
      </p:sp>
      <p:sp>
        <p:nvSpPr>
          <p:cNvPr id="39" name="Shape 37"/>
          <p:cNvSpPr/>
          <p:nvPr/>
        </p:nvSpPr>
        <p:spPr>
          <a:xfrm>
            <a:off x="3904488" y="2606040"/>
            <a:ext cx="-1481328" cy="594360"/>
          </a:xfrm>
          <a:prstGeom prst="line">
            <a:avLst/>
          </a:prstGeom>
          <a:noFill/>
          <a:ln w="19050">
            <a:solidFill>
              <a:srgbClr val="2C8C99"/>
            </a:solidFill>
            <a:prstDash val="solid"/>
            <a:headEnd type="none"/>
            <a:tailEnd type="triangle"/>
          </a:ln>
        </p:spPr>
      </p:sp>
      <p:sp>
        <p:nvSpPr>
          <p:cNvPr id="40" name="Text 38"/>
          <p:cNvSpPr/>
          <p:nvPr/>
        </p:nvSpPr>
        <p:spPr>
          <a:xfrm>
            <a:off x="1737360" y="2926080"/>
            <a:ext cx="1005840" cy="274320"/>
          </a:xfrm>
          <a:prstGeom prst="rect">
            <a:avLst/>
          </a:prstGeom>
          <a:noFill/>
          <a:ln/>
        </p:spPr>
        <p:txBody>
          <a:bodyPr wrap="square" rtlCol="0" anchor="ctr"/>
          <a:lstStyle/>
          <a:p>
            <a:pPr algn="ctr" indent="0" marL="0">
              <a:buNone/>
            </a:pPr>
            <a:r>
              <a:rPr lang="en-US" sz="750" i="1" dirty="0">
                <a:solidFill>
                  <a:srgbClr val="2C8C99"/>
                </a:solidFill>
                <a:latin typeface="Arial" pitchFamily="34" charset="0"/>
                <a:ea typeface="Arial" pitchFamily="34" charset="-122"/>
                <a:cs typeface="Arial" pitchFamily="34" charset="-120"/>
              </a:rPr>
              <a:t>read-only</a:t>
            </a:r>
            <a:endParaRPr lang="en-US" sz="750" dirty="0"/>
          </a:p>
        </p:txBody>
      </p:sp>
      <p:sp>
        <p:nvSpPr>
          <p:cNvPr id="41" name="Shape 39"/>
          <p:cNvSpPr/>
          <p:nvPr/>
        </p:nvSpPr>
        <p:spPr>
          <a:xfrm>
            <a:off x="3904488" y="2606040"/>
            <a:ext cx="1481328" cy="594360"/>
          </a:xfrm>
          <a:prstGeom prst="line">
            <a:avLst/>
          </a:prstGeom>
          <a:noFill/>
          <a:ln w="19050">
            <a:solidFill>
              <a:srgbClr val="2C8C99"/>
            </a:solidFill>
            <a:prstDash val="dash"/>
            <a:headEnd type="none"/>
            <a:tailEnd type="triangle"/>
          </a:ln>
        </p:spPr>
      </p:sp>
      <p:sp>
        <p:nvSpPr>
          <p:cNvPr id="42" name="Text 40"/>
          <p:cNvSpPr/>
          <p:nvPr/>
        </p:nvSpPr>
        <p:spPr>
          <a:xfrm>
            <a:off x="3721608" y="3035808"/>
            <a:ext cx="1280160" cy="274320"/>
          </a:xfrm>
          <a:prstGeom prst="rect">
            <a:avLst/>
          </a:prstGeom>
          <a:noFill/>
          <a:ln/>
        </p:spPr>
        <p:txBody>
          <a:bodyPr wrap="square" rtlCol="0" anchor="ctr"/>
          <a:lstStyle/>
          <a:p>
            <a:pPr algn="l" indent="0" marL="0">
              <a:buNone/>
            </a:pPr>
            <a:r>
              <a:rPr lang="en-US" sz="750" i="1" dirty="0">
                <a:solidFill>
                  <a:srgbClr val="2C8C99"/>
                </a:solidFill>
                <a:latin typeface="Arial" pitchFamily="34" charset="0"/>
                <a:ea typeface="Arial" pitchFamily="34" charset="-122"/>
                <a:cs typeface="Arial" pitchFamily="34" charset="-120"/>
              </a:rPr>
              <a:t>proposes write</a:t>
            </a:r>
            <a:endParaRPr lang="en-US" sz="750" dirty="0"/>
          </a:p>
        </p:txBody>
      </p:sp>
      <p:sp>
        <p:nvSpPr>
          <p:cNvPr id="43" name="Shape 41"/>
          <p:cNvSpPr/>
          <p:nvPr/>
        </p:nvSpPr>
        <p:spPr>
          <a:xfrm>
            <a:off x="6181344" y="3200400"/>
            <a:ext cx="1371600" cy="457200"/>
          </a:xfrm>
          <a:prstGeom prst="roundRect">
            <a:avLst>
              <a:gd name="adj" fmla="val 12000"/>
            </a:avLst>
          </a:prstGeom>
          <a:solidFill>
            <a:srgbClr val="2E7D5B"/>
          </a:solidFill>
          <a:ln w="12700">
            <a:solidFill>
              <a:srgbClr val="2E7D5B"/>
            </a:solidFill>
            <a:prstDash val="solid"/>
          </a:ln>
          <a:effectLst>
            <a:outerShdw sx="100000" sy="100000" kx="0" ky="0" algn="bl" rotWithShape="0" blurRad="38100" dist="12700" dir="5400000">
              <a:srgbClr val="9AA6B2">
                <a:alpha val="35000"/>
              </a:srgbClr>
            </a:outerShdw>
          </a:effectLst>
        </p:spPr>
      </p:sp>
      <p:sp>
        <p:nvSpPr>
          <p:cNvPr id="44" name="Text 42"/>
          <p:cNvSpPr/>
          <p:nvPr/>
        </p:nvSpPr>
        <p:spPr>
          <a:xfrm>
            <a:off x="6181344" y="3200400"/>
            <a:ext cx="1371600" cy="457200"/>
          </a:xfrm>
          <a:prstGeom prst="rect">
            <a:avLst/>
          </a:prstGeom>
          <a:noFill/>
          <a:ln/>
        </p:spPr>
        <p:txBody>
          <a:bodyPr wrap="square" rtlCol="0" anchor="ctr"/>
          <a:lstStyle/>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applyAutonomous</a:t>
            </a:r>
            <a:endParaRPr lang="en-US" sz="800" dirty="0"/>
          </a:p>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comment · flag</a:t>
            </a:r>
            <a:endParaRPr lang="en-US" sz="800" dirty="0"/>
          </a:p>
        </p:txBody>
      </p:sp>
      <p:sp>
        <p:nvSpPr>
          <p:cNvPr id="45" name="Shape 43"/>
          <p:cNvSpPr/>
          <p:nvPr/>
        </p:nvSpPr>
        <p:spPr>
          <a:xfrm>
            <a:off x="6071616" y="3429000"/>
            <a:ext cx="109728" cy="0"/>
          </a:xfrm>
          <a:prstGeom prst="line">
            <a:avLst/>
          </a:prstGeom>
          <a:noFill/>
          <a:ln w="19050">
            <a:solidFill>
              <a:srgbClr val="2E7D5B"/>
            </a:solidFill>
            <a:prstDash val="solid"/>
            <a:headEnd type="none"/>
            <a:tailEnd type="triangle"/>
          </a:ln>
        </p:spPr>
      </p:sp>
      <p:sp>
        <p:nvSpPr>
          <p:cNvPr id="46" name="Text 44"/>
          <p:cNvSpPr/>
          <p:nvPr/>
        </p:nvSpPr>
        <p:spPr>
          <a:xfrm>
            <a:off x="6025896" y="3154680"/>
            <a:ext cx="822960" cy="274320"/>
          </a:xfrm>
          <a:prstGeom prst="rect">
            <a:avLst/>
          </a:prstGeom>
          <a:noFill/>
          <a:ln/>
        </p:spPr>
        <p:txBody>
          <a:bodyPr wrap="square" rtlCol="0" anchor="ctr"/>
          <a:lstStyle/>
          <a:p>
            <a:pPr algn="ctr" indent="0" marL="0">
              <a:buNone/>
            </a:pPr>
            <a:r>
              <a:rPr lang="en-US" sz="750" i="1" dirty="0">
                <a:solidFill>
                  <a:srgbClr val="2E7D5B"/>
                </a:solidFill>
                <a:latin typeface="Arial" pitchFamily="34" charset="0"/>
                <a:ea typeface="Arial" pitchFamily="34" charset="-122"/>
                <a:cs typeface="Arial" pitchFamily="34" charset="-120"/>
              </a:rPr>
              <a:t>all auto</a:t>
            </a:r>
            <a:endParaRPr lang="en-US" sz="750" dirty="0"/>
          </a:p>
        </p:txBody>
      </p:sp>
      <p:sp>
        <p:nvSpPr>
          <p:cNvPr id="47" name="Shape 45"/>
          <p:cNvSpPr/>
          <p:nvPr/>
        </p:nvSpPr>
        <p:spPr>
          <a:xfrm>
            <a:off x="7662672" y="3200400"/>
            <a:ext cx="1371600" cy="457200"/>
          </a:xfrm>
          <a:prstGeom prst="roundRect">
            <a:avLst>
              <a:gd name="adj" fmla="val 12000"/>
            </a:avLst>
          </a:prstGeom>
          <a:solidFill>
            <a:srgbClr val="2E7D5B"/>
          </a:solidFill>
          <a:ln w="12700">
            <a:solidFill>
              <a:srgbClr val="2E7D5B"/>
            </a:solidFill>
            <a:prstDash val="solid"/>
          </a:ln>
          <a:effectLst>
            <a:outerShdw sx="100000" sy="100000" kx="0" ky="0" algn="bl" rotWithShape="0" blurRad="38100" dist="12700" dir="5400000">
              <a:srgbClr val="9AA6B2">
                <a:alpha val="35000"/>
              </a:srgbClr>
            </a:outerShdw>
          </a:effectLst>
        </p:spPr>
      </p:sp>
      <p:sp>
        <p:nvSpPr>
          <p:cNvPr id="48" name="Text 46"/>
          <p:cNvSpPr/>
          <p:nvPr/>
        </p:nvSpPr>
        <p:spPr>
          <a:xfrm>
            <a:off x="7662672" y="3200400"/>
            <a:ext cx="1371600" cy="457200"/>
          </a:xfrm>
          <a:prstGeom prst="rect">
            <a:avLst/>
          </a:prstGeom>
          <a:noFill/>
          <a:ln/>
        </p:spPr>
        <p:txBody>
          <a:bodyPr wrap="square" rtlCol="0" anchor="ctr"/>
          <a:lstStyle/>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notify</a:t>
            </a:r>
            <a:endParaRPr lang="en-US" sz="800" dirty="0"/>
          </a:p>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broadcastToUser</a:t>
            </a:r>
            <a:endParaRPr lang="en-US" sz="800" dirty="0"/>
          </a:p>
        </p:txBody>
      </p:sp>
      <p:sp>
        <p:nvSpPr>
          <p:cNvPr id="49" name="Shape 47"/>
          <p:cNvSpPr/>
          <p:nvPr/>
        </p:nvSpPr>
        <p:spPr>
          <a:xfrm>
            <a:off x="7552944" y="3429000"/>
            <a:ext cx="109728" cy="0"/>
          </a:xfrm>
          <a:prstGeom prst="line">
            <a:avLst/>
          </a:prstGeom>
          <a:noFill/>
          <a:ln w="19050">
            <a:solidFill>
              <a:srgbClr val="5B6675"/>
            </a:solidFill>
            <a:prstDash val="solid"/>
            <a:headEnd type="none"/>
            <a:tailEnd type="triangle"/>
          </a:ln>
        </p:spPr>
      </p:sp>
      <p:sp>
        <p:nvSpPr>
          <p:cNvPr id="50" name="Shape 48"/>
          <p:cNvSpPr/>
          <p:nvPr/>
        </p:nvSpPr>
        <p:spPr>
          <a:xfrm>
            <a:off x="4700016" y="4114800"/>
            <a:ext cx="1371600" cy="457200"/>
          </a:xfrm>
          <a:prstGeom prst="roundRect">
            <a:avLst>
              <a:gd name="adj" fmla="val 12000"/>
            </a:avLst>
          </a:prstGeom>
          <a:solidFill>
            <a:srgbClr val="C0492B"/>
          </a:solidFill>
          <a:ln w="12700">
            <a:solidFill>
              <a:srgbClr val="C0492B"/>
            </a:solidFill>
            <a:prstDash val="solid"/>
          </a:ln>
          <a:effectLst>
            <a:outerShdw sx="100000" sy="100000" kx="0" ky="0" algn="bl" rotWithShape="0" blurRad="38100" dist="12700" dir="5400000">
              <a:srgbClr val="9AA6B2">
                <a:alpha val="35000"/>
              </a:srgbClr>
            </a:outerShdw>
          </a:effectLst>
        </p:spPr>
      </p:sp>
      <p:sp>
        <p:nvSpPr>
          <p:cNvPr id="51" name="Text 49"/>
          <p:cNvSpPr/>
          <p:nvPr/>
        </p:nvSpPr>
        <p:spPr>
          <a:xfrm>
            <a:off x="4700016" y="4114800"/>
            <a:ext cx="1371600" cy="457200"/>
          </a:xfrm>
          <a:prstGeom prst="rect">
            <a:avLst/>
          </a:prstGeom>
          <a:noFill/>
          <a:ln/>
        </p:spPr>
        <p:txBody>
          <a:bodyPr wrap="square" rtlCol="0" anchor="ctr"/>
          <a:lstStyle/>
          <a:p>
            <a:pPr algn="ctr" indent="0" marL="0">
              <a:lnSpc>
                <a:spcPct val="90000"/>
              </a:lnSpc>
              <a:buNone/>
            </a:pPr>
            <a:r>
              <a:rPr lang="en-US" sz="760" b="1" dirty="0">
                <a:solidFill>
                  <a:srgbClr val="FFFFFF"/>
                </a:solidFill>
                <a:latin typeface="Arial" pitchFamily="34" charset="0"/>
                <a:ea typeface="Arial" pitchFamily="34" charset="-122"/>
                <a:cs typeface="Arial" pitchFamily="34" charset="-120"/>
              </a:rPr>
              <a:t>humanGate · INTERRUPT</a:t>
            </a:r>
            <a:endParaRPr lang="en-US" sz="760" dirty="0"/>
          </a:p>
          <a:p>
            <a:pPr algn="ctr" indent="0" marL="0">
              <a:lnSpc>
                <a:spcPct val="90000"/>
              </a:lnSpc>
              <a:buNone/>
            </a:pPr>
            <a:r>
              <a:rPr lang="en-US" sz="760" b="1" dirty="0">
                <a:solidFill>
                  <a:srgbClr val="FFFFFF"/>
                </a:solidFill>
                <a:latin typeface="Arial" pitchFamily="34" charset="0"/>
                <a:ea typeface="Arial" pitchFamily="34" charset="-122"/>
                <a:cs typeface="Arial" pitchFamily="34" charset="-120"/>
              </a:rPr>
              <a:t>PostgresSaver</a:t>
            </a:r>
            <a:endParaRPr lang="en-US" sz="760" dirty="0"/>
          </a:p>
        </p:txBody>
      </p:sp>
      <p:sp>
        <p:nvSpPr>
          <p:cNvPr id="52" name="Shape 50"/>
          <p:cNvSpPr/>
          <p:nvPr/>
        </p:nvSpPr>
        <p:spPr>
          <a:xfrm>
            <a:off x="5385816" y="3657600"/>
            <a:ext cx="0" cy="457200"/>
          </a:xfrm>
          <a:prstGeom prst="line">
            <a:avLst/>
          </a:prstGeom>
          <a:noFill/>
          <a:ln w="19050">
            <a:solidFill>
              <a:srgbClr val="C0492B"/>
            </a:solidFill>
            <a:prstDash val="solid"/>
            <a:headEnd type="none"/>
            <a:tailEnd type="triangle"/>
          </a:ln>
        </p:spPr>
      </p:sp>
      <p:sp>
        <p:nvSpPr>
          <p:cNvPr id="53" name="Text 51"/>
          <p:cNvSpPr/>
          <p:nvPr/>
        </p:nvSpPr>
        <p:spPr>
          <a:xfrm>
            <a:off x="5440680" y="3657600"/>
            <a:ext cx="822960" cy="274320"/>
          </a:xfrm>
          <a:prstGeom prst="rect">
            <a:avLst/>
          </a:prstGeom>
          <a:noFill/>
          <a:ln/>
        </p:spPr>
        <p:txBody>
          <a:bodyPr wrap="square" rtlCol="0" anchor="ctr"/>
          <a:lstStyle/>
          <a:p>
            <a:pPr algn="l" indent="0" marL="0">
              <a:buNone/>
            </a:pPr>
            <a:r>
              <a:rPr lang="en-US" sz="750" i="1" dirty="0">
                <a:solidFill>
                  <a:srgbClr val="C0492B"/>
                </a:solidFill>
                <a:latin typeface="Arial" pitchFamily="34" charset="0"/>
                <a:ea typeface="Arial" pitchFamily="34" charset="-122"/>
                <a:cs typeface="Arial" pitchFamily="34" charset="-120"/>
              </a:rPr>
              <a:t>any hitl</a:t>
            </a:r>
            <a:endParaRPr lang="en-US" sz="750" dirty="0"/>
          </a:p>
        </p:txBody>
      </p:sp>
      <p:sp>
        <p:nvSpPr>
          <p:cNvPr id="54" name="Shape 52"/>
          <p:cNvSpPr/>
          <p:nvPr/>
        </p:nvSpPr>
        <p:spPr>
          <a:xfrm>
            <a:off x="6181344" y="4114800"/>
            <a:ext cx="1371600" cy="457200"/>
          </a:xfrm>
          <a:prstGeom prst="roundRect">
            <a:avLst>
              <a:gd name="adj" fmla="val 12000"/>
            </a:avLst>
          </a:prstGeom>
          <a:solidFill>
            <a:srgbClr val="C0492B"/>
          </a:solidFill>
          <a:ln w="12700">
            <a:solidFill>
              <a:srgbClr val="C0492B"/>
            </a:solidFill>
            <a:prstDash val="solid"/>
          </a:ln>
          <a:effectLst>
            <a:outerShdw sx="100000" sy="100000" kx="0" ky="0" algn="bl" rotWithShape="0" blurRad="38100" dist="12700" dir="5400000">
              <a:srgbClr val="9AA6B2">
                <a:alpha val="35000"/>
              </a:srgbClr>
            </a:outerShdw>
          </a:effectLst>
        </p:spPr>
      </p:sp>
      <p:sp>
        <p:nvSpPr>
          <p:cNvPr id="55" name="Text 53"/>
          <p:cNvSpPr/>
          <p:nvPr/>
        </p:nvSpPr>
        <p:spPr>
          <a:xfrm>
            <a:off x="6181344" y="4114800"/>
            <a:ext cx="1371600" cy="457200"/>
          </a:xfrm>
          <a:prstGeom prst="rect">
            <a:avLst/>
          </a:prstGeom>
          <a:noFill/>
          <a:ln/>
        </p:spPr>
        <p:txBody>
          <a:bodyPr wrap="square" rtlCol="0" anchor="ctr"/>
          <a:lstStyle/>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executeApproved</a:t>
            </a:r>
            <a:endParaRPr lang="en-US" sz="800" dirty="0"/>
          </a:p>
          <a:p>
            <a:pPr algn="ctr" indent="0" marL="0">
              <a:lnSpc>
                <a:spcPct val="90000"/>
              </a:lnSpc>
              <a:buNone/>
            </a:pPr>
            <a:r>
              <a:rPr lang="en-US" sz="800" b="1" dirty="0">
                <a:solidFill>
                  <a:srgbClr val="FFFFFF"/>
                </a:solidFill>
                <a:latin typeface="Arial" pitchFamily="34" charset="0"/>
                <a:ea typeface="Arial" pitchFamily="34" charset="-122"/>
                <a:cs typeface="Arial" pitchFamily="34" charset="-120"/>
              </a:rPr>
              <a:t>PATCH issue/doc</a:t>
            </a:r>
            <a:endParaRPr lang="en-US" sz="800" dirty="0"/>
          </a:p>
        </p:txBody>
      </p:sp>
      <p:sp>
        <p:nvSpPr>
          <p:cNvPr id="56" name="Shape 54"/>
          <p:cNvSpPr/>
          <p:nvPr/>
        </p:nvSpPr>
        <p:spPr>
          <a:xfrm>
            <a:off x="6071616" y="4343400"/>
            <a:ext cx="109728" cy="0"/>
          </a:xfrm>
          <a:prstGeom prst="line">
            <a:avLst/>
          </a:prstGeom>
          <a:noFill/>
          <a:ln w="19050">
            <a:solidFill>
              <a:srgbClr val="C0492B"/>
            </a:solidFill>
            <a:prstDash val="solid"/>
            <a:headEnd type="none"/>
            <a:tailEnd type="triangle"/>
          </a:ln>
        </p:spPr>
      </p:sp>
      <p:sp>
        <p:nvSpPr>
          <p:cNvPr id="57" name="Text 55"/>
          <p:cNvSpPr/>
          <p:nvPr/>
        </p:nvSpPr>
        <p:spPr>
          <a:xfrm>
            <a:off x="6025896" y="4069080"/>
            <a:ext cx="822960" cy="274320"/>
          </a:xfrm>
          <a:prstGeom prst="rect">
            <a:avLst/>
          </a:prstGeom>
          <a:noFill/>
          <a:ln/>
        </p:spPr>
        <p:txBody>
          <a:bodyPr wrap="square" rtlCol="0" anchor="ctr"/>
          <a:lstStyle/>
          <a:p>
            <a:pPr algn="ctr" indent="0" marL="0">
              <a:buNone/>
            </a:pPr>
            <a:r>
              <a:rPr lang="en-US" sz="750" i="1" dirty="0">
                <a:solidFill>
                  <a:srgbClr val="C0492B"/>
                </a:solidFill>
                <a:latin typeface="Arial" pitchFamily="34" charset="0"/>
                <a:ea typeface="Arial" pitchFamily="34" charset="-122"/>
                <a:cs typeface="Arial" pitchFamily="34" charset="-120"/>
              </a:rPr>
              <a:t>approve</a:t>
            </a:r>
            <a:endParaRPr lang="en-US" sz="750" dirty="0"/>
          </a:p>
        </p:txBody>
      </p:sp>
      <p:sp>
        <p:nvSpPr>
          <p:cNvPr id="58" name="Shape 56"/>
          <p:cNvSpPr/>
          <p:nvPr/>
        </p:nvSpPr>
        <p:spPr>
          <a:xfrm>
            <a:off x="7552944" y="4343400"/>
            <a:ext cx="795528" cy="-685800"/>
          </a:xfrm>
          <a:prstGeom prst="line">
            <a:avLst/>
          </a:prstGeom>
          <a:noFill/>
          <a:ln w="19050">
            <a:solidFill>
              <a:srgbClr val="C0492B"/>
            </a:solidFill>
            <a:prstDash val="solid"/>
            <a:headEnd type="none"/>
            <a:tailEnd type="triangle"/>
          </a:ln>
        </p:spPr>
      </p:sp>
      <p:sp>
        <p:nvSpPr>
          <p:cNvPr id="59" name="Text 57"/>
          <p:cNvSpPr/>
          <p:nvPr/>
        </p:nvSpPr>
        <p:spPr>
          <a:xfrm>
            <a:off x="7498080" y="4133088"/>
            <a:ext cx="1737360" cy="457200"/>
          </a:xfrm>
          <a:prstGeom prst="rect">
            <a:avLst/>
          </a:prstGeom>
          <a:noFill/>
          <a:ln/>
        </p:spPr>
        <p:txBody>
          <a:bodyPr wrap="square" rtlCol="0" anchor="t"/>
          <a:lstStyle/>
          <a:p>
            <a:pPr indent="0" marL="0">
              <a:buNone/>
            </a:pPr>
            <a:r>
              <a:rPr lang="en-US" sz="750" i="1" dirty="0">
                <a:solidFill>
                  <a:srgbClr val="C0492B"/>
                </a:solidFill>
                <a:latin typeface="Arial" pitchFamily="34" charset="0"/>
                <a:ea typeface="Arial" pitchFamily="34" charset="-122"/>
                <a:cs typeface="Arial" pitchFamily="34" charset="-120"/>
              </a:rPr>
              <a:t>dismiss → suppress</a:t>
            </a:r>
            <a:endParaRPr lang="en-US" sz="750" dirty="0"/>
          </a:p>
          <a:p>
            <a:pPr indent="0" marL="0">
              <a:buNone/>
            </a:pPr>
            <a:r>
              <a:rPr lang="en-US" sz="750" i="1" dirty="0">
                <a:solidFill>
                  <a:srgbClr val="C0492B"/>
                </a:solidFill>
                <a:latin typeface="Arial" pitchFamily="34" charset="0"/>
                <a:ea typeface="Arial" pitchFamily="34" charset="-122"/>
                <a:cs typeface="Arial" pitchFamily="34" charset="-120"/>
              </a:rPr>
              <a:t>snooze → re-surface later</a:t>
            </a:r>
            <a:endParaRPr lang="en-US" sz="750" dirty="0"/>
          </a:p>
        </p:txBody>
      </p:sp>
      <p:sp>
        <p:nvSpPr>
          <p:cNvPr id="60" name="Shape 58"/>
          <p:cNvSpPr/>
          <p:nvPr/>
        </p:nvSpPr>
        <p:spPr>
          <a:xfrm>
            <a:off x="320040" y="4700016"/>
            <a:ext cx="146304" cy="146304"/>
          </a:xfrm>
          <a:prstGeom prst="roundRect">
            <a:avLst>
              <a:gd name="adj" fmla="val 18750"/>
            </a:avLst>
          </a:prstGeom>
          <a:solidFill>
            <a:srgbClr val="2C8C99"/>
          </a:solidFill>
          <a:ln/>
        </p:spPr>
      </p:sp>
      <p:sp>
        <p:nvSpPr>
          <p:cNvPr id="61" name="Text 59"/>
          <p:cNvSpPr/>
          <p:nvPr/>
        </p:nvSpPr>
        <p:spPr>
          <a:xfrm>
            <a:off x="502920" y="4654296"/>
            <a:ext cx="1737360" cy="237744"/>
          </a:xfrm>
          <a:prstGeom prst="rect">
            <a:avLst/>
          </a:prstGeom>
          <a:noFill/>
          <a:ln/>
        </p:spPr>
        <p:txBody>
          <a:bodyPr wrap="square" rtlCol="0" anchor="ctr"/>
          <a:lstStyle/>
          <a:p>
            <a:pPr indent="0" marL="0">
              <a:buNone/>
            </a:pPr>
            <a:r>
              <a:rPr lang="en-US" sz="800" dirty="0">
                <a:solidFill>
                  <a:srgbClr val="5B6675"/>
                </a:solidFill>
                <a:latin typeface="Arial" pitchFamily="34" charset="0"/>
                <a:ea typeface="Arial" pitchFamily="34" charset="-122"/>
                <a:cs typeface="Arial" pitchFamily="34" charset="-120"/>
              </a:rPr>
              <a:t>fetch / chat</a:t>
            </a:r>
            <a:endParaRPr lang="en-US" sz="800" dirty="0"/>
          </a:p>
        </p:txBody>
      </p:sp>
      <p:sp>
        <p:nvSpPr>
          <p:cNvPr id="62" name="Shape 60"/>
          <p:cNvSpPr/>
          <p:nvPr/>
        </p:nvSpPr>
        <p:spPr>
          <a:xfrm>
            <a:off x="1874520" y="4700016"/>
            <a:ext cx="146304" cy="146304"/>
          </a:xfrm>
          <a:prstGeom prst="roundRect">
            <a:avLst>
              <a:gd name="adj" fmla="val 18750"/>
            </a:avLst>
          </a:prstGeom>
          <a:solidFill>
            <a:srgbClr val="2E6FB7"/>
          </a:solidFill>
          <a:ln/>
        </p:spPr>
      </p:sp>
      <p:sp>
        <p:nvSpPr>
          <p:cNvPr id="63" name="Text 61"/>
          <p:cNvSpPr/>
          <p:nvPr/>
        </p:nvSpPr>
        <p:spPr>
          <a:xfrm>
            <a:off x="2057400" y="4654296"/>
            <a:ext cx="1737360" cy="237744"/>
          </a:xfrm>
          <a:prstGeom prst="rect">
            <a:avLst/>
          </a:prstGeom>
          <a:noFill/>
          <a:ln/>
        </p:spPr>
        <p:txBody>
          <a:bodyPr wrap="square" rtlCol="0" anchor="ctr"/>
          <a:lstStyle/>
          <a:p>
            <a:pPr indent="0" marL="0">
              <a:buNone/>
            </a:pPr>
            <a:r>
              <a:rPr lang="en-US" sz="800" dirty="0">
                <a:solidFill>
                  <a:srgbClr val="5B6675"/>
                </a:solidFill>
                <a:latin typeface="Arial" pitchFamily="34" charset="0"/>
                <a:ea typeface="Arial" pitchFamily="34" charset="-122"/>
                <a:cs typeface="Arial" pitchFamily="34" charset="-120"/>
              </a:rPr>
              <a:t>deterministic</a:t>
            </a:r>
            <a:endParaRPr lang="en-US" sz="800" dirty="0"/>
          </a:p>
        </p:txBody>
      </p:sp>
      <p:sp>
        <p:nvSpPr>
          <p:cNvPr id="64" name="Shape 62"/>
          <p:cNvSpPr/>
          <p:nvPr/>
        </p:nvSpPr>
        <p:spPr>
          <a:xfrm>
            <a:off x="3429000" y="4700016"/>
            <a:ext cx="146304" cy="146304"/>
          </a:xfrm>
          <a:prstGeom prst="roundRect">
            <a:avLst>
              <a:gd name="adj" fmla="val 18750"/>
            </a:avLst>
          </a:prstGeom>
          <a:solidFill>
            <a:srgbClr val="C9892F"/>
          </a:solidFill>
          <a:ln/>
        </p:spPr>
      </p:sp>
      <p:sp>
        <p:nvSpPr>
          <p:cNvPr id="65" name="Text 63"/>
          <p:cNvSpPr/>
          <p:nvPr/>
        </p:nvSpPr>
        <p:spPr>
          <a:xfrm>
            <a:off x="3611880" y="4654296"/>
            <a:ext cx="1737360" cy="237744"/>
          </a:xfrm>
          <a:prstGeom prst="rect">
            <a:avLst/>
          </a:prstGeom>
          <a:noFill/>
          <a:ln/>
        </p:spPr>
        <p:txBody>
          <a:bodyPr wrap="square" rtlCol="0" anchor="ctr"/>
          <a:lstStyle/>
          <a:p>
            <a:pPr indent="0" marL="0">
              <a:buNone/>
            </a:pPr>
            <a:r>
              <a:rPr lang="en-US" sz="800" dirty="0">
                <a:solidFill>
                  <a:srgbClr val="5B6675"/>
                </a:solidFill>
                <a:latin typeface="Arial" pitchFamily="34" charset="0"/>
                <a:ea typeface="Arial" pitchFamily="34" charset="-122"/>
                <a:cs typeface="Arial" pitchFamily="34" charset="-120"/>
              </a:rPr>
              <a:t>LLM (tiered)</a:t>
            </a:r>
            <a:endParaRPr lang="en-US" sz="800" dirty="0"/>
          </a:p>
        </p:txBody>
      </p:sp>
      <p:sp>
        <p:nvSpPr>
          <p:cNvPr id="66" name="Shape 64"/>
          <p:cNvSpPr/>
          <p:nvPr/>
        </p:nvSpPr>
        <p:spPr>
          <a:xfrm>
            <a:off x="5074920" y="4700016"/>
            <a:ext cx="146304" cy="146304"/>
          </a:xfrm>
          <a:prstGeom prst="roundRect">
            <a:avLst>
              <a:gd name="adj" fmla="val 18750"/>
            </a:avLst>
          </a:prstGeom>
          <a:solidFill>
            <a:srgbClr val="C0492B"/>
          </a:solidFill>
          <a:ln/>
        </p:spPr>
      </p:sp>
      <p:sp>
        <p:nvSpPr>
          <p:cNvPr id="67" name="Text 65"/>
          <p:cNvSpPr/>
          <p:nvPr/>
        </p:nvSpPr>
        <p:spPr>
          <a:xfrm>
            <a:off x="5257800" y="4654296"/>
            <a:ext cx="1737360" cy="237744"/>
          </a:xfrm>
          <a:prstGeom prst="rect">
            <a:avLst/>
          </a:prstGeom>
          <a:noFill/>
          <a:ln/>
        </p:spPr>
        <p:txBody>
          <a:bodyPr wrap="square" rtlCol="0" anchor="ctr"/>
          <a:lstStyle/>
          <a:p>
            <a:pPr indent="0" marL="0">
              <a:buNone/>
            </a:pPr>
            <a:r>
              <a:rPr lang="en-US" sz="800" dirty="0">
                <a:solidFill>
                  <a:srgbClr val="5B6675"/>
                </a:solidFill>
                <a:latin typeface="Arial" pitchFamily="34" charset="0"/>
                <a:ea typeface="Arial" pitchFamily="34" charset="-122"/>
                <a:cs typeface="Arial" pitchFamily="34" charset="-120"/>
              </a:rPr>
              <a:t>HITL / write</a:t>
            </a:r>
            <a:endParaRPr lang="en-US" sz="800" dirty="0"/>
          </a:p>
        </p:txBody>
      </p:sp>
      <p:sp>
        <p:nvSpPr>
          <p:cNvPr id="68" name="Shape 66"/>
          <p:cNvSpPr/>
          <p:nvPr/>
        </p:nvSpPr>
        <p:spPr>
          <a:xfrm>
            <a:off x="6720840" y="4700016"/>
            <a:ext cx="146304" cy="146304"/>
          </a:xfrm>
          <a:prstGeom prst="roundRect">
            <a:avLst>
              <a:gd name="adj" fmla="val 18750"/>
            </a:avLst>
          </a:prstGeom>
          <a:solidFill>
            <a:srgbClr val="2E7D5B"/>
          </a:solidFill>
          <a:ln/>
        </p:spPr>
      </p:sp>
      <p:sp>
        <p:nvSpPr>
          <p:cNvPr id="69" name="Text 67"/>
          <p:cNvSpPr/>
          <p:nvPr/>
        </p:nvSpPr>
        <p:spPr>
          <a:xfrm>
            <a:off x="6903720" y="4654296"/>
            <a:ext cx="1737360" cy="237744"/>
          </a:xfrm>
          <a:prstGeom prst="rect">
            <a:avLst/>
          </a:prstGeom>
          <a:noFill/>
          <a:ln/>
        </p:spPr>
        <p:txBody>
          <a:bodyPr wrap="square" rtlCol="0" anchor="ctr"/>
          <a:lstStyle/>
          <a:p>
            <a:pPr indent="0" marL="0">
              <a:buNone/>
            </a:pPr>
            <a:r>
              <a:rPr lang="en-US" sz="800" dirty="0">
                <a:solidFill>
                  <a:srgbClr val="5B6675"/>
                </a:solidFill>
                <a:latin typeface="Arial" pitchFamily="34" charset="0"/>
                <a:ea typeface="Arial" pitchFamily="34" charset="-122"/>
                <a:cs typeface="Arial" pitchFamily="34" charset="-120"/>
              </a:rPr>
              <a:t>auto / output</a:t>
            </a:r>
            <a:endParaRPr lang="en-US" sz="800" dirty="0"/>
          </a:p>
        </p:txBody>
      </p:sp>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74320" y="164592"/>
            <a:ext cx="8595360" cy="274320"/>
          </a:xfrm>
          <a:prstGeom prst="rect">
            <a:avLst/>
          </a:prstGeom>
          <a:noFill/>
          <a:ln/>
        </p:spPr>
        <p:txBody>
          <a:bodyPr wrap="square" rtlCol="0" anchor="ctr"/>
          <a:lstStyle/>
          <a:p>
            <a:pPr indent="0" marL="0">
              <a:buNone/>
            </a:pPr>
            <a:r>
              <a:rPr lang="en-US" sz="1100" b="1" spc="200" kern="0" dirty="0">
                <a:solidFill>
                  <a:srgbClr val="2E6FB7"/>
                </a:solidFill>
                <a:latin typeface="Arial" pitchFamily="34" charset="0"/>
                <a:ea typeface="Arial" pitchFamily="34" charset="-122"/>
                <a:cs typeface="Arial" pitchFamily="34" charset="-120"/>
              </a:rPr>
              <a:t>A GRAPH, NOT A PIPELINE</a:t>
            </a:r>
            <a:endParaRPr lang="en-US" sz="1100" dirty="0"/>
          </a:p>
        </p:txBody>
      </p:sp>
      <p:sp>
        <p:nvSpPr>
          <p:cNvPr id="3" name="Text 1"/>
          <p:cNvSpPr/>
          <p:nvPr/>
        </p:nvSpPr>
        <p:spPr>
          <a:xfrm>
            <a:off x="274320" y="384048"/>
            <a:ext cx="8595360" cy="548640"/>
          </a:xfrm>
          <a:prstGeom prst="rect">
            <a:avLst/>
          </a:prstGeom>
          <a:noFill/>
          <a:ln/>
        </p:spPr>
        <p:txBody>
          <a:bodyPr wrap="square" rtlCol="0" anchor="ctr"/>
          <a:lstStyle/>
          <a:p>
            <a:pPr indent="0" marL="0">
              <a:buNone/>
            </a:pPr>
            <a:r>
              <a:rPr lang="en-US" sz="2400" b="1" dirty="0">
                <a:solidFill>
                  <a:srgbClr val="1F3A5F"/>
                </a:solidFill>
                <a:latin typeface="Arial" pitchFamily="34" charset="0"/>
                <a:ea typeface="Arial" pitchFamily="34" charset="-122"/>
                <a:cs typeface="Arial" pitchFamily="34" charset="-120"/>
              </a:rPr>
              <a:t>Different conditions → different traces</a:t>
            </a:r>
            <a:endParaRPr lang="en-US" sz="2400" dirty="0"/>
          </a:p>
        </p:txBody>
      </p:sp>
      <p:sp>
        <p:nvSpPr>
          <p:cNvPr id="4" name="Shape 2"/>
          <p:cNvSpPr/>
          <p:nvPr/>
        </p:nvSpPr>
        <p:spPr>
          <a:xfrm>
            <a:off x="292608" y="950976"/>
            <a:ext cx="1005840" cy="0"/>
          </a:xfrm>
          <a:prstGeom prst="line">
            <a:avLst/>
          </a:prstGeom>
          <a:noFill/>
          <a:ln w="31750">
            <a:solidFill>
              <a:srgbClr val="C9892F"/>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8412480" cy="914400"/>
        </p:xfrm>
        <a:graphic>
          <a:graphicData uri="http://schemas.openxmlformats.org/drawingml/2006/table">
            <a:tbl>
              <a:tblPr/>
              <a:tblGrid>
                <a:gridCol w="457200"/>
                <a:gridCol w="2377440"/>
                <a:gridCol w="4617720"/>
                <a:gridCol w="960120"/>
              </a:tblGrid>
              <a:tr h="50292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1F3A5F"/>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Condition</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1F3A5F"/>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Path through the graph</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1F3A5F"/>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LLM</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1F3A5F"/>
                    </a:solidFill>
                  </a:tcPr>
                </a:tc>
              </a:tr>
              <a:tr h="502920">
                <a:tc>
                  <a:txBody>
                    <a:bodyPr/>
                    <a:lstStyle/>
                    <a:p>
                      <a:pPr algn="ctr" indent="0" marL="0">
                        <a:buNone/>
                      </a:pPr>
                      <a:r>
                        <a:rPr lang="en-US" sz="1100" b="1" dirty="0">
                          <a:solidFill>
                            <a:srgbClr val="1A2330"/>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Nothing new (dedup hit)</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router → fetch → detect → dedup → END</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none</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r>
              <a:tr h="502920">
                <a:tc>
                  <a:txBody>
                    <a:bodyPr/>
                    <a:lstStyle/>
                    <a:p>
                      <a:pPr algn="ctr" indent="0" marL="0">
                        <a:buNone/>
                      </a:pPr>
                      <a:r>
                        <a:rPr lang="en-US" sz="1100" b="1" dirty="0">
                          <a:solidFill>
                            <a:srgbClr val="1A233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Low-stakes finding</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 triage → reason → applyAutonomous → notify</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T1+T2</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r>
              <a:tr h="502920">
                <a:tc>
                  <a:txBody>
                    <a:bodyPr/>
                    <a:lstStyle/>
                    <a:p>
                      <a:pPr algn="ctr" indent="0" marL="0">
                        <a:buNone/>
                      </a:pPr>
                      <a:r>
                        <a:rPr lang="en-US" sz="1100" b="1" dirty="0">
                          <a:solidFill>
                            <a:srgbClr val="1A233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High-stakes action</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 classify → humanGate INTERRUPT → approve → PATCH</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T1+T2</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r>
              <a:tr h="502920">
                <a:tc>
                  <a:txBody>
                    <a:bodyPr/>
                    <a:lstStyle/>
                    <a:p>
                      <a:pPr algn="ctr" indent="0" marL="0">
                        <a:buNone/>
                      </a:pPr>
                      <a:r>
                        <a:rPr lang="en-US" sz="1100" b="1" dirty="0">
                          <a:solidFill>
                            <a:srgbClr val="1A233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On-demand question</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router → resolveContext → fetch → answer → respond</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T2</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r>
              <a:tr h="502920">
                <a:tc>
                  <a:txBody>
                    <a:bodyPr/>
                    <a:lstStyle/>
                    <a:p>
                      <a:pPr algn="ctr" indent="0" marL="0">
                        <a:buNone/>
                      </a:pPr>
                      <a:r>
                        <a:rPr lang="en-US" sz="1100" b="1" dirty="0">
                          <a:solidFill>
                            <a:srgbClr val="1A233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On-demand action</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 answer → classify → humanGate → execute</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0"/>
                          </a:solidFill>
                          <a:latin typeface="Arial" pitchFamily="34" charset="0"/>
                          <a:ea typeface="Arial" pitchFamily="34" charset="-122"/>
                          <a:cs typeface="Arial" pitchFamily="34" charset="-120"/>
                        </a:rPr>
                        <a:t>T2</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r>
            </a:tbl>
          </a:graphicData>
        </a:graphic>
      </p:graphicFrame>
      <p:sp>
        <p:nvSpPr>
          <p:cNvPr id="6" name="Shape 3"/>
          <p:cNvSpPr/>
          <p:nvPr/>
        </p:nvSpPr>
        <p:spPr>
          <a:xfrm>
            <a:off x="365760" y="4297680"/>
            <a:ext cx="8412480" cy="502920"/>
          </a:xfrm>
          <a:prstGeom prst="roundRect">
            <a:avLst>
              <a:gd name="adj" fmla="val 14545"/>
            </a:avLst>
          </a:prstGeom>
          <a:solidFill>
            <a:srgbClr val="EAEFF4"/>
          </a:solidFill>
          <a:ln w="12700">
            <a:solidFill>
              <a:srgbClr val="C4CDD6"/>
            </a:solidFill>
            <a:prstDash val="solid"/>
          </a:ln>
        </p:spPr>
      </p:sp>
      <p:sp>
        <p:nvSpPr>
          <p:cNvPr id="7" name="Text 4"/>
          <p:cNvSpPr/>
          <p:nvPr/>
        </p:nvSpPr>
        <p:spPr>
          <a:xfrm>
            <a:off x="548640" y="4297680"/>
            <a:ext cx="8138160" cy="502920"/>
          </a:xfrm>
          <a:prstGeom prst="rect">
            <a:avLst/>
          </a:prstGeom>
          <a:noFill/>
          <a:ln/>
        </p:spPr>
        <p:txBody>
          <a:bodyPr wrap="square" rtlCol="0" anchor="ctr"/>
          <a:lstStyle/>
          <a:p>
            <a:pPr indent="0" marL="0">
              <a:buNone/>
            </a:pPr>
            <a:r>
              <a:rPr lang="en-US" sz="1150" b="1" dirty="0">
                <a:solidFill>
                  <a:srgbClr val="1F3A5F"/>
                </a:solidFill>
                <a:latin typeface="Arial" pitchFamily="34" charset="0"/>
                <a:ea typeface="Arial" pitchFamily="34" charset="-122"/>
                <a:cs typeface="Arial" pitchFamily="34" charset="-120"/>
              </a:rPr>
              <a:t>LangSmith from day one.  </a:t>
            </a:r>
            <a:pPr indent="0" marL="0">
              <a:buNone/>
            </a:pPr>
            <a:r>
              <a:rPr lang="en-US" sz="1150" dirty="0">
                <a:solidFill>
                  <a:srgbClr val="1A2330"/>
                </a:solidFill>
                <a:latin typeface="Arial" pitchFamily="34" charset="0"/>
                <a:ea typeface="Arial" pitchFamily="34" charset="-122"/>
                <a:cs typeface="Arial" pitchFamily="34" charset="-120"/>
              </a:rPr>
              <a:t>Five visibly different execution shapes prove branching — we submit ≥2 trace links per deliverable.</a:t>
            </a:r>
            <a:endParaRPr lang="en-US" sz="1150" dirty="0"/>
          </a:p>
        </p:txBody>
      </p:sp>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74320" y="164592"/>
            <a:ext cx="8595360" cy="274320"/>
          </a:xfrm>
          <a:prstGeom prst="rect">
            <a:avLst/>
          </a:prstGeom>
          <a:noFill/>
          <a:ln/>
        </p:spPr>
        <p:txBody>
          <a:bodyPr wrap="square" rtlCol="0" anchor="ctr"/>
          <a:lstStyle/>
          <a:p>
            <a:pPr indent="0" marL="0">
              <a:buNone/>
            </a:pPr>
            <a:r>
              <a:rPr lang="en-US" sz="1100" b="1" spc="200" kern="0" dirty="0">
                <a:solidFill>
                  <a:srgbClr val="2E6FB7"/>
                </a:solidFill>
                <a:latin typeface="Arial" pitchFamily="34" charset="0"/>
                <a:ea typeface="Arial" pitchFamily="34" charset="-122"/>
                <a:cs typeface="Arial" pitchFamily="34" charset="-120"/>
              </a:rPr>
              <a:t>TRIGGER MODEL</a:t>
            </a:r>
            <a:endParaRPr lang="en-US" sz="1100" dirty="0"/>
          </a:p>
        </p:txBody>
      </p:sp>
      <p:sp>
        <p:nvSpPr>
          <p:cNvPr id="3" name="Text 1"/>
          <p:cNvSpPr/>
          <p:nvPr/>
        </p:nvSpPr>
        <p:spPr>
          <a:xfrm>
            <a:off x="274320" y="384048"/>
            <a:ext cx="8595360" cy="548640"/>
          </a:xfrm>
          <a:prstGeom prst="rect">
            <a:avLst/>
          </a:prstGeom>
          <a:noFill/>
          <a:ln/>
        </p:spPr>
        <p:txBody>
          <a:bodyPr wrap="square" rtlCol="0" anchor="ctr"/>
          <a:lstStyle/>
          <a:p>
            <a:pPr indent="0" marL="0">
              <a:buNone/>
            </a:pPr>
            <a:r>
              <a:rPr lang="en-US" sz="2400" b="1" dirty="0">
                <a:solidFill>
                  <a:srgbClr val="1F3A5F"/>
                </a:solidFill>
                <a:latin typeface="Arial" pitchFamily="34" charset="0"/>
                <a:ea typeface="Arial" pitchFamily="34" charset="-122"/>
                <a:cs typeface="Arial" pitchFamily="34" charset="-120"/>
              </a:rPr>
              <a:t>Hybrid: event-hook + cron sweep</a:t>
            </a:r>
            <a:endParaRPr lang="en-US" sz="2400" dirty="0"/>
          </a:p>
        </p:txBody>
      </p:sp>
      <p:sp>
        <p:nvSpPr>
          <p:cNvPr id="4" name="Shape 2"/>
          <p:cNvSpPr/>
          <p:nvPr/>
        </p:nvSpPr>
        <p:spPr>
          <a:xfrm>
            <a:off x="292608" y="950976"/>
            <a:ext cx="1005840" cy="0"/>
          </a:xfrm>
          <a:prstGeom prst="line">
            <a:avLst/>
          </a:prstGeom>
          <a:noFill/>
          <a:ln w="31750">
            <a:solidFill>
              <a:srgbClr val="C9892F"/>
            </a:solidFill>
            <a:prstDash val="solid"/>
          </a:ln>
        </p:spPr>
      </p:sp>
      <p:sp>
        <p:nvSpPr>
          <p:cNvPr id="5" name="Text 3"/>
          <p:cNvSpPr/>
          <p:nvPr/>
        </p:nvSpPr>
        <p:spPr>
          <a:xfrm>
            <a:off x="411480" y="1143000"/>
            <a:ext cx="8321040" cy="3566160"/>
          </a:xfrm>
          <a:prstGeom prst="rect">
            <a:avLst/>
          </a:prstGeom>
          <a:noFill/>
          <a:ln/>
        </p:spPr>
        <p:txBody>
          <a:bodyPr wrap="square" rtlCol="0" anchor="t"/>
          <a:lstStyle/>
          <a:p>
            <a:pPr marL="342900" indent="-342900">
              <a:lnSpc>
                <a:spcPct val="102000"/>
              </a:lnSpc>
              <a:spcAft>
                <a:spcPts val="700"/>
              </a:spcAft>
              <a:buSzPct val="100000"/>
              <a:buChar char="•"/>
            </a:pPr>
            <a:r>
              <a:rPr lang="en-US" sz="1250" b="1" dirty="0">
                <a:solidFill>
                  <a:srgbClr val="1F3A5F"/>
                </a:solidFill>
                <a:latin typeface="Arial" pitchFamily="34" charset="0"/>
                <a:ea typeface="Arial" pitchFamily="34" charset="-122"/>
                <a:cs typeface="Arial" pitchFamily="34" charset="-120"/>
              </a:rPr>
              <a:t>Real-time (mutation): an in-process event fires in Ship's PATCH post-commit hook, debounced ~30–60s, enqueued in the same process — no broker.</a:t>
            </a:r>
            <a:endParaRPr lang="en-US" sz="1250" dirty="0"/>
          </a:p>
          <a:p>
            <a:pPr lvl="1" marL="457200" indent="-228600">
              <a:lnSpc>
                <a:spcPct val="102000"/>
              </a:lnSpc>
              <a:spcAft>
                <a:spcPts val="400"/>
              </a:spcAft>
              <a:buSzPct val="100000"/>
              <a:buChar char="•"/>
            </a:pPr>
            <a:r>
              <a:rPr lang="en-US" sz="1300" dirty="0">
                <a:solidFill>
                  <a:srgbClr val="1A2330"/>
                </a:solidFill>
                <a:latin typeface="Arial" pitchFamily="34" charset="0"/>
                <a:ea typeface="Arial" pitchFamily="34" charset="-122"/>
                <a:cs typeface="Arial" pitchFamily="34" charset="-120"/>
              </a:rPr>
              <a:t>Fetch (narrow, parallel) ≈0.5–2s  ·  Haiku triage ≈1–3s  ·  Opus draft ≈3–8s  ·  notify ≈instant  →  end-to-end ≪ 1 min.</a:t>
            </a:r>
            <a:endParaRPr lang="en-US" sz="1250" dirty="0"/>
          </a:p>
          <a:p>
            <a:pPr marL="342900" indent="-342900">
              <a:lnSpc>
                <a:spcPct val="102000"/>
              </a:lnSpc>
              <a:spcAft>
                <a:spcPts val="700"/>
              </a:spcAft>
              <a:buSzPct val="100000"/>
              <a:buChar char="•"/>
            </a:pPr>
            <a:r>
              <a:rPr lang="en-US" sz="1250" b="1" dirty="0">
                <a:solidFill>
                  <a:srgbClr val="1F3A5F"/>
                </a:solidFill>
                <a:latin typeface="Arial" pitchFamily="34" charset="0"/>
                <a:ea typeface="Arial" pitchFamily="34" charset="-122"/>
                <a:cs typeface="Arial" pitchFamily="34" charset="-120"/>
              </a:rPr>
              <a:t>Scheduled (cron sweep) every 5 min: catches absences no mutation fires for — stale, overdue, missing standups, sprint slip.</a:t>
            </a:r>
            <a:endParaRPr lang="en-US" sz="1250" dirty="0"/>
          </a:p>
          <a:p>
            <a:pPr lvl="1" marL="457200" indent="-228600">
              <a:lnSpc>
                <a:spcPct val="102000"/>
              </a:lnSpc>
              <a:spcAft>
                <a:spcPts val="400"/>
              </a:spcAft>
              <a:buSzPct val="100000"/>
              <a:buChar char="•"/>
            </a:pPr>
            <a:r>
              <a:rPr lang="en-US" sz="1300" dirty="0">
                <a:solidFill>
                  <a:srgbClr val="1A2330"/>
                </a:solidFill>
                <a:latin typeface="Arial" pitchFamily="34" charset="0"/>
                <a:ea typeface="Arial" pitchFamily="34" charset="-122"/>
                <a:cs typeface="Arial" pitchFamily="34" charset="-120"/>
              </a:rPr>
              <a:t>For those classes the interval IS the latency → 5 min honors the SLA.</a:t>
            </a:r>
            <a:endParaRPr lang="en-US" sz="1250" dirty="0"/>
          </a:p>
          <a:p>
            <a:pPr marL="342900" indent="-342900">
              <a:lnSpc>
                <a:spcPct val="102000"/>
              </a:lnSpc>
              <a:spcAft>
                <a:spcPts val="700"/>
              </a:spcAft>
              <a:buSzPct val="100000"/>
              <a:buChar char="•"/>
            </a:pPr>
            <a:r>
              <a:rPr lang="en-US" sz="1250" b="1" dirty="0">
                <a:solidFill>
                  <a:srgbClr val="C0492B"/>
                </a:solidFill>
                <a:latin typeface="Arial" pitchFamily="34" charset="0"/>
                <a:ea typeface="Arial" pitchFamily="34" charset="-122"/>
                <a:cs typeface="Arial" pitchFamily="34" charset="-120"/>
              </a:rPr>
              <a:t>Why hybrid: webhook-only misses “nothing happened”; poll-only wastes runs and couples latency to the interval. Hybrid gets sub-minute on changes and bounded latency on absences.</a:t>
            </a:r>
            <a:endParaRPr lang="en-US" sz="1250" dirty="0"/>
          </a:p>
          <a:p>
            <a:pPr lvl="1" marL="457200" indent="-228600">
              <a:lnSpc>
                <a:spcPct val="102000"/>
              </a:lnSpc>
              <a:spcAft>
                <a:spcPts val="400"/>
              </a:spcAft>
              <a:buSzPct val="100000"/>
              <a:buChar char="•"/>
            </a:pPr>
            <a:r>
              <a:rPr lang="en-US" sz="1300" dirty="0">
                <a:solidFill>
                  <a:srgbClr val="1A2330"/>
                </a:solidFill>
                <a:latin typeface="Arial" pitchFamily="34" charset="0"/>
                <a:ea typeface="Arial" pitchFamily="34" charset="-122"/>
                <a:cs typeface="Arial" pitchFamily="34" charset="-120"/>
              </a:rPr>
              <a:t>Scale guard: pg_try_advisory_lock so the sweep fires once across a multi-instance EB fleet.</a:t>
            </a:r>
            <a:endParaRPr lang="en-US" sz="1250" dirty="0"/>
          </a:p>
        </p:txBody>
      </p:sp>
      <p:sp>
        <p:nvSpPr>
          <p:cNvPr id="6" name="Shape 4"/>
          <p:cNvSpPr/>
          <p:nvPr/>
        </p:nvSpPr>
        <p:spPr>
          <a:xfrm>
            <a:off x="411480" y="4224528"/>
            <a:ext cx="8321040" cy="502920"/>
          </a:xfrm>
          <a:prstGeom prst="roundRect">
            <a:avLst>
              <a:gd name="adj" fmla="val 14545"/>
            </a:avLst>
          </a:prstGeom>
          <a:solidFill>
            <a:srgbClr val="1F3A5F"/>
          </a:solidFill>
          <a:ln/>
        </p:spPr>
      </p:sp>
      <p:sp>
        <p:nvSpPr>
          <p:cNvPr id="7" name="Text 5"/>
          <p:cNvSpPr/>
          <p:nvPr/>
        </p:nvSpPr>
        <p:spPr>
          <a:xfrm>
            <a:off x="548640" y="4224528"/>
            <a:ext cx="8138160" cy="502920"/>
          </a:xfrm>
          <a:prstGeom prst="rect">
            <a:avLst/>
          </a:prstGeom>
          <a:noFill/>
          <a:ln/>
        </p:spPr>
        <p:txBody>
          <a:bodyPr wrap="square" rtlCol="0" anchor="ctr"/>
          <a:lstStyle/>
          <a:p>
            <a:pPr indent="0" marL="0">
              <a:buNone/>
            </a:pPr>
            <a:r>
              <a:rPr lang="en-US" sz="1200" dirty="0">
                <a:solidFill>
                  <a:srgbClr val="B9CBE0"/>
                </a:solidFill>
                <a:latin typeface="Arial" pitchFamily="34" charset="0"/>
                <a:ea typeface="Arial" pitchFamily="34" charset="-122"/>
                <a:cs typeface="Arial" pitchFamily="34" charset="-120"/>
              </a:rPr>
              <a:t>Detection latency target  </a:t>
            </a:r>
            <a:pPr indent="0" marL="0">
              <a:buNone/>
            </a:pPr>
            <a:r>
              <a:rPr lang="en-US" sz="1200" b="1" dirty="0">
                <a:solidFill>
                  <a:srgbClr val="FFFFFF"/>
                </a:solidFill>
                <a:latin typeface="Arial" pitchFamily="34" charset="0"/>
                <a:ea typeface="Arial" pitchFamily="34" charset="-122"/>
                <a:cs typeface="Arial" pitchFamily="34" charset="-120"/>
              </a:rPr>
              <a:t>&lt; 5 min</a:t>
            </a:r>
            <a:pPr indent="0" marL="0">
              <a:buNone/>
            </a:pPr>
            <a:r>
              <a:rPr lang="en-US" sz="1200" dirty="0">
                <a:solidFill>
                  <a:srgbClr val="B9CBE0"/>
                </a:solidFill>
                <a:latin typeface="Arial" pitchFamily="34" charset="0"/>
                <a:ea typeface="Arial" pitchFamily="34" charset="-122"/>
                <a:cs typeface="Arial" pitchFamily="34" charset="-120"/>
              </a:rPr>
              <a:t>   —  mutation path lands well inside it; cron covers the rest.</a:t>
            </a:r>
            <a:endParaRPr lang="en-US" sz="1200" dirty="0"/>
          </a:p>
        </p:txBody>
      </p:sp>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74320" y="164592"/>
            <a:ext cx="8595360" cy="274320"/>
          </a:xfrm>
          <a:prstGeom prst="rect">
            <a:avLst/>
          </a:prstGeom>
          <a:noFill/>
          <a:ln/>
        </p:spPr>
        <p:txBody>
          <a:bodyPr wrap="square" rtlCol="0" anchor="ctr"/>
          <a:lstStyle/>
          <a:p>
            <a:pPr indent="0" marL="0">
              <a:buNone/>
            </a:pPr>
            <a:r>
              <a:rPr lang="en-US" sz="1100" b="1" spc="200" kern="0" dirty="0">
                <a:solidFill>
                  <a:srgbClr val="2E6FB7"/>
                </a:solidFill>
                <a:latin typeface="Arial" pitchFamily="34" charset="0"/>
                <a:ea typeface="Arial" pitchFamily="34" charset="-122"/>
                <a:cs typeface="Arial" pitchFamily="34" charset="-120"/>
              </a:rPr>
              <a:t>HUMAN-IN-THE-LOOP</a:t>
            </a:r>
            <a:endParaRPr lang="en-US" sz="1100" dirty="0"/>
          </a:p>
        </p:txBody>
      </p:sp>
      <p:sp>
        <p:nvSpPr>
          <p:cNvPr id="3" name="Text 1"/>
          <p:cNvSpPr/>
          <p:nvPr/>
        </p:nvSpPr>
        <p:spPr>
          <a:xfrm>
            <a:off x="274320" y="384048"/>
            <a:ext cx="8595360" cy="548640"/>
          </a:xfrm>
          <a:prstGeom prst="rect">
            <a:avLst/>
          </a:prstGeom>
          <a:noFill/>
          <a:ln/>
        </p:spPr>
        <p:txBody>
          <a:bodyPr wrap="square" rtlCol="0" anchor="ctr"/>
          <a:lstStyle/>
          <a:p>
            <a:pPr indent="0" marL="0">
              <a:buNone/>
            </a:pPr>
            <a:r>
              <a:rPr lang="en-US" sz="2400" b="1" dirty="0">
                <a:solidFill>
                  <a:srgbClr val="1F3A5F"/>
                </a:solidFill>
                <a:latin typeface="Arial" pitchFamily="34" charset="0"/>
                <a:ea typeface="Arial" pitchFamily="34" charset="-122"/>
                <a:cs typeface="Arial" pitchFamily="34" charset="-120"/>
              </a:rPr>
              <a:t>Free to inform; must ask to mutate</a:t>
            </a:r>
            <a:endParaRPr lang="en-US" sz="2400" dirty="0"/>
          </a:p>
        </p:txBody>
      </p:sp>
      <p:sp>
        <p:nvSpPr>
          <p:cNvPr id="4" name="Shape 2"/>
          <p:cNvSpPr/>
          <p:nvPr/>
        </p:nvSpPr>
        <p:spPr>
          <a:xfrm>
            <a:off x="292608" y="950976"/>
            <a:ext cx="1005840" cy="0"/>
          </a:xfrm>
          <a:prstGeom prst="line">
            <a:avLst/>
          </a:prstGeom>
          <a:noFill/>
          <a:ln w="31750">
            <a:solidFill>
              <a:srgbClr val="C9892F"/>
            </a:solidFill>
            <a:prstDash val="solid"/>
          </a:ln>
        </p:spPr>
      </p:sp>
      <p:sp>
        <p:nvSpPr>
          <p:cNvPr id="5" name="Shape 3"/>
          <p:cNvSpPr/>
          <p:nvPr/>
        </p:nvSpPr>
        <p:spPr>
          <a:xfrm>
            <a:off x="365760" y="1188720"/>
            <a:ext cx="4114800" cy="2286000"/>
          </a:xfrm>
          <a:prstGeom prst="roundRect">
            <a:avLst>
              <a:gd name="adj" fmla="val 3200"/>
            </a:avLst>
          </a:prstGeom>
          <a:solidFill>
            <a:srgbClr val="F4F6F8"/>
          </a:solidFill>
          <a:ln w="19050">
            <a:solidFill>
              <a:srgbClr val="2E7D5B"/>
            </a:solidFill>
            <a:prstDash val="solid"/>
          </a:ln>
        </p:spPr>
      </p:sp>
      <p:sp>
        <p:nvSpPr>
          <p:cNvPr id="6" name="Text 4"/>
          <p:cNvSpPr/>
          <p:nvPr/>
        </p:nvSpPr>
        <p:spPr>
          <a:xfrm>
            <a:off x="530352" y="1280160"/>
            <a:ext cx="3840480" cy="274320"/>
          </a:xfrm>
          <a:prstGeom prst="rect">
            <a:avLst/>
          </a:prstGeom>
          <a:noFill/>
          <a:ln/>
        </p:spPr>
        <p:txBody>
          <a:bodyPr wrap="square" rtlCol="0" anchor="ctr"/>
          <a:lstStyle/>
          <a:p>
            <a:pPr indent="0" marL="0">
              <a:buNone/>
            </a:pPr>
            <a:r>
              <a:rPr lang="en-US" sz="1200" b="1" dirty="0">
                <a:solidFill>
                  <a:srgbClr val="2E7D5B"/>
                </a:solidFill>
                <a:latin typeface="Arial" pitchFamily="34" charset="0"/>
                <a:ea typeface="Arial" pitchFamily="34" charset="-122"/>
                <a:cs typeface="Arial" pitchFamily="34" charset="-120"/>
              </a:rPr>
              <a:t>AUTONOMOUS  (reversible)</a:t>
            </a:r>
            <a:endParaRPr lang="en-US" sz="1200" dirty="0"/>
          </a:p>
        </p:txBody>
      </p:sp>
      <p:sp>
        <p:nvSpPr>
          <p:cNvPr id="7" name="Text 5"/>
          <p:cNvSpPr/>
          <p:nvPr/>
        </p:nvSpPr>
        <p:spPr>
          <a:xfrm>
            <a:off x="548640" y="1645920"/>
            <a:ext cx="3840480" cy="1737360"/>
          </a:xfrm>
          <a:prstGeom prst="rect">
            <a:avLst/>
          </a:prstGeom>
          <a:noFill/>
          <a:ln/>
        </p:spPr>
        <p:txBody>
          <a:bodyPr wrap="square" rtlCol="0" anchor="t"/>
          <a:lstStyle/>
          <a:p>
            <a:pPr marL="342900" indent="-342900">
              <a:spcAft>
                <a:spcPts val="500"/>
              </a:spcAft>
              <a:buSzPct val="100000"/>
              <a:buChar char="•"/>
            </a:pPr>
            <a:r>
              <a:rPr lang="en-US" sz="1150" dirty="0">
                <a:solidFill>
                  <a:srgbClr val="1A2330"/>
                </a:solidFill>
                <a:latin typeface="Arial" pitchFamily="34" charset="0"/>
                <a:ea typeface="Arial" pitchFamily="34" charset="-122"/>
                <a:cs typeface="Arial" pitchFamily="34" charset="-120"/>
              </a:rPr>
              <a:t>Post a comment / finding</a:t>
            </a:r>
            <a:endParaRPr lang="en-US" sz="1150" dirty="0"/>
          </a:p>
          <a:p>
            <a:pPr marL="342900" indent="-342900">
              <a:spcAft>
                <a:spcPts val="500"/>
              </a:spcAft>
              <a:buSzPct val="100000"/>
              <a:buChar char="•"/>
            </a:pPr>
            <a:r>
              <a:rPr lang="en-US" sz="1150" dirty="0">
                <a:solidFill>
                  <a:srgbClr val="1A2330"/>
                </a:solidFill>
                <a:latin typeface="Arial" pitchFamily="34" charset="0"/>
                <a:ea typeface="Arial" pitchFamily="34" charset="-122"/>
                <a:cs typeface="Arial" pitchFamily="34" charset="-120"/>
              </a:rPr>
              <a:t>Create an in-app notification</a:t>
            </a:r>
            <a:endParaRPr lang="en-US" sz="1150" dirty="0"/>
          </a:p>
          <a:p>
            <a:pPr marL="342900" indent="-342900">
              <a:spcAft>
                <a:spcPts val="500"/>
              </a:spcAft>
              <a:buSzPct val="100000"/>
              <a:buChar char="•"/>
            </a:pPr>
            <a:r>
              <a:rPr lang="en-US" sz="1150" dirty="0">
                <a:solidFill>
                  <a:srgbClr val="1A2330"/>
                </a:solidFill>
                <a:latin typeface="Arial" pitchFamily="34" charset="0"/>
                <a:ea typeface="Arial" pitchFamily="34" charset="-122"/>
                <a:cs typeface="Arial" pitchFamily="34" charset="-120"/>
              </a:rPr>
              <a:t>Raise a flag / badge</a:t>
            </a:r>
            <a:endParaRPr lang="en-US" sz="1150" dirty="0"/>
          </a:p>
          <a:p>
            <a:pPr marL="342900" indent="-342900">
              <a:spcAft>
                <a:spcPts val="500"/>
              </a:spcAft>
              <a:buSzPct val="100000"/>
              <a:buChar char="•"/>
            </a:pPr>
            <a:r>
              <a:rPr lang="en-US" sz="1150" dirty="0">
                <a:solidFill>
                  <a:srgbClr val="1A2330"/>
                </a:solidFill>
                <a:latin typeface="Arial" pitchFamily="34" charset="0"/>
                <a:ea typeface="Arial" pitchFamily="34" charset="-122"/>
                <a:cs typeface="Arial" pitchFamily="34" charset="-120"/>
              </a:rPr>
              <a:t>Write an audit-trail history row</a:t>
            </a:r>
            <a:endParaRPr lang="en-US" sz="1150" dirty="0"/>
          </a:p>
          <a:p>
            <a:pPr marL="342900" indent="-342900">
              <a:buSzPct val="100000"/>
              <a:buChar char="•"/>
            </a:pPr>
            <a:r>
              <a:rPr lang="en-US" sz="1150" dirty="0">
                <a:solidFill>
                  <a:srgbClr val="1A2330"/>
                </a:solidFill>
                <a:latin typeface="Arial" pitchFamily="34" charset="0"/>
                <a:ea typeface="Arial" pitchFamily="34" charset="-122"/>
                <a:cs typeface="Arial" pitchFamily="34" charset="-120"/>
              </a:rPr>
              <a:t>Ask a clarifying question in chat</a:t>
            </a:r>
            <a:endParaRPr lang="en-US" sz="1150" dirty="0"/>
          </a:p>
        </p:txBody>
      </p:sp>
      <p:sp>
        <p:nvSpPr>
          <p:cNvPr id="8" name="Shape 6"/>
          <p:cNvSpPr/>
          <p:nvPr/>
        </p:nvSpPr>
        <p:spPr>
          <a:xfrm>
            <a:off x="4663440" y="1188720"/>
            <a:ext cx="4114800" cy="2286000"/>
          </a:xfrm>
          <a:prstGeom prst="roundRect">
            <a:avLst>
              <a:gd name="adj" fmla="val 3200"/>
            </a:avLst>
          </a:prstGeom>
          <a:solidFill>
            <a:srgbClr val="F4F6F8"/>
          </a:solidFill>
          <a:ln w="19050">
            <a:solidFill>
              <a:srgbClr val="C0492B"/>
            </a:solidFill>
            <a:prstDash val="solid"/>
          </a:ln>
        </p:spPr>
      </p:sp>
      <p:sp>
        <p:nvSpPr>
          <p:cNvPr id="9" name="Text 7"/>
          <p:cNvSpPr/>
          <p:nvPr/>
        </p:nvSpPr>
        <p:spPr>
          <a:xfrm>
            <a:off x="4828032" y="1280160"/>
            <a:ext cx="3840480" cy="274320"/>
          </a:xfrm>
          <a:prstGeom prst="rect">
            <a:avLst/>
          </a:prstGeom>
          <a:noFill/>
          <a:ln/>
        </p:spPr>
        <p:txBody>
          <a:bodyPr wrap="square" rtlCol="0" anchor="ctr"/>
          <a:lstStyle/>
          <a:p>
            <a:pPr indent="0" marL="0">
              <a:buNone/>
            </a:pPr>
            <a:r>
              <a:rPr lang="en-US" sz="1200" b="1" dirty="0">
                <a:solidFill>
                  <a:srgbClr val="C0492B"/>
                </a:solidFill>
                <a:latin typeface="Arial" pitchFamily="34" charset="0"/>
                <a:ea typeface="Arial" pitchFamily="34" charset="-122"/>
                <a:cs typeface="Arial" pitchFamily="34" charset="-120"/>
              </a:rPr>
              <a:t>ALWAYS CONFIRM  (system of record)</a:t>
            </a:r>
            <a:endParaRPr lang="en-US" sz="1200" dirty="0"/>
          </a:p>
        </p:txBody>
      </p:sp>
      <p:sp>
        <p:nvSpPr>
          <p:cNvPr id="10" name="Text 8"/>
          <p:cNvSpPr/>
          <p:nvPr/>
        </p:nvSpPr>
        <p:spPr>
          <a:xfrm>
            <a:off x="4846320" y="1645920"/>
            <a:ext cx="3840480" cy="1737360"/>
          </a:xfrm>
          <a:prstGeom prst="rect">
            <a:avLst/>
          </a:prstGeom>
          <a:noFill/>
          <a:ln/>
        </p:spPr>
        <p:txBody>
          <a:bodyPr wrap="square" rtlCol="0" anchor="t"/>
          <a:lstStyle/>
          <a:p>
            <a:pPr marL="342900" indent="-342900">
              <a:spcAft>
                <a:spcPts val="500"/>
              </a:spcAft>
              <a:buSzPct val="100000"/>
              <a:buChar char="•"/>
            </a:pPr>
            <a:r>
              <a:rPr lang="en-US" sz="1150" dirty="0">
                <a:solidFill>
                  <a:srgbClr val="1A2330"/>
                </a:solidFill>
                <a:latin typeface="Arial" pitchFamily="34" charset="0"/>
                <a:ea typeface="Arial" pitchFamily="34" charset="-122"/>
                <a:cs typeface="Arial" pitchFamily="34" charset="-120"/>
              </a:rPr>
              <a:t>Change issue state / priority / assignee / estimate / due date</a:t>
            </a:r>
            <a:endParaRPr lang="en-US" sz="1150" dirty="0"/>
          </a:p>
          <a:p>
            <a:pPr marL="342900" indent="-342900">
              <a:spcAft>
                <a:spcPts val="500"/>
              </a:spcAft>
              <a:buSzPct val="100000"/>
              <a:buChar char="•"/>
            </a:pPr>
            <a:r>
              <a:rPr lang="en-US" sz="1150" dirty="0">
                <a:solidFill>
                  <a:srgbClr val="1A2330"/>
                </a:solidFill>
                <a:latin typeface="Arial" pitchFamily="34" charset="0"/>
                <a:ea typeface="Arial" pitchFamily="34" charset="-122"/>
                <a:cs typeface="Arial" pitchFamily="34" charset="-120"/>
              </a:rPr>
              <a:t>Edit a plan, retro, or its approval</a:t>
            </a:r>
            <a:endParaRPr lang="en-US" sz="1150" dirty="0"/>
          </a:p>
          <a:p>
            <a:pPr marL="342900" indent="-342900">
              <a:spcAft>
                <a:spcPts val="500"/>
              </a:spcAft>
              <a:buSzPct val="100000"/>
              <a:buChar char="•"/>
            </a:pPr>
            <a:r>
              <a:rPr lang="en-US" sz="1150" dirty="0">
                <a:solidFill>
                  <a:srgbClr val="1A2330"/>
                </a:solidFill>
                <a:latin typeface="Arial" pitchFamily="34" charset="0"/>
                <a:ea typeface="Arial" pitchFamily="34" charset="-122"/>
                <a:cs typeface="Arial" pitchFamily="34" charset="-120"/>
              </a:rPr>
              <a:t>Change sprint confidence / project ICE / owner</a:t>
            </a:r>
            <a:endParaRPr lang="en-US" sz="1150" dirty="0"/>
          </a:p>
          <a:p>
            <a:pPr marL="342900" indent="-342900">
              <a:buSzPct val="100000"/>
              <a:buChar char="•"/>
            </a:pPr>
            <a:r>
              <a:rPr lang="en-US" sz="1150" dirty="0">
                <a:solidFill>
                  <a:srgbClr val="1A2330"/>
                </a:solidFill>
                <a:latin typeface="Arial" pitchFamily="34" charset="0"/>
                <a:ea typeface="Arial" pitchFamily="34" charset="-122"/>
                <a:cs typeface="Arial" pitchFamily="34" charset="-120"/>
              </a:rPr>
              <a:t>Anything that notifies another human (reassign, escalate to reports_to)</a:t>
            </a:r>
            <a:endParaRPr lang="en-US" sz="1150" dirty="0"/>
          </a:p>
        </p:txBody>
      </p:sp>
      <p:sp>
        <p:nvSpPr>
          <p:cNvPr id="11" name="Text 9"/>
          <p:cNvSpPr/>
          <p:nvPr/>
        </p:nvSpPr>
        <p:spPr>
          <a:xfrm>
            <a:off x="411480" y="3611880"/>
            <a:ext cx="8321040" cy="594360"/>
          </a:xfrm>
          <a:prstGeom prst="rect">
            <a:avLst/>
          </a:prstGeom>
          <a:noFill/>
          <a:ln/>
        </p:spPr>
        <p:txBody>
          <a:bodyPr wrap="square" rtlCol="0" anchor="t"/>
          <a:lstStyle/>
          <a:p>
            <a:pPr indent="0" marL="0">
              <a:buNone/>
            </a:pPr>
            <a:r>
              <a:rPr lang="en-US" sz="1150" b="1" dirty="0">
                <a:solidFill>
                  <a:srgbClr val="1F3A5F"/>
                </a:solidFill>
                <a:latin typeface="Arial" pitchFamily="34" charset="0"/>
                <a:ea typeface="Arial" pitchFamily="34" charset="-122"/>
                <a:cs typeface="Arial" pitchFamily="34" charset="-120"/>
              </a:rPr>
              <a:t>Gate:  </a:t>
            </a:r>
            <a:pPr indent="0" marL="0">
              <a:buNone/>
            </a:pPr>
            <a:r>
              <a:rPr lang="en-US" sz="1150" dirty="0">
                <a:solidFill>
                  <a:srgbClr val="1A2330"/>
                </a:solidFill>
                <a:latin typeface="Arial" pitchFamily="34" charset="0"/>
                <a:ea typeface="Arial" pitchFamily="34" charset="-122"/>
                <a:cs typeface="Arial" pitchFamily="34" charset="-120"/>
              </a:rPr>
              <a:t>LangGraph interrupt() + a Postgres checkpointer (survives EB deploy/scale). Approve → PATCH (stamped automated_by=‘fleetgraph’).  Dismiss → suppress.  Snooze → re-surface later.</a:t>
            </a:r>
            <a:endParaRPr lang="en-US" sz="1150" dirty="0"/>
          </a:p>
        </p:txBody>
      </p:sp>
      <p:sp>
        <p:nvSpPr>
          <p:cNvPr id="12" name="Shape 10"/>
          <p:cNvSpPr/>
          <p:nvPr/>
        </p:nvSpPr>
        <p:spPr>
          <a:xfrm>
            <a:off x="411480" y="4224528"/>
            <a:ext cx="8321040" cy="502920"/>
          </a:xfrm>
          <a:prstGeom prst="roundRect">
            <a:avLst>
              <a:gd name="adj" fmla="val 14545"/>
            </a:avLst>
          </a:prstGeom>
          <a:solidFill>
            <a:srgbClr val="EAEFF4"/>
          </a:solidFill>
          <a:ln w="12700">
            <a:solidFill>
              <a:srgbClr val="C4CDD6"/>
            </a:solidFill>
            <a:prstDash val="solid"/>
          </a:ln>
        </p:spPr>
      </p:sp>
      <p:sp>
        <p:nvSpPr>
          <p:cNvPr id="13" name="Text 11"/>
          <p:cNvSpPr/>
          <p:nvPr/>
        </p:nvSpPr>
        <p:spPr>
          <a:xfrm>
            <a:off x="548640" y="4224528"/>
            <a:ext cx="8138160" cy="502920"/>
          </a:xfrm>
          <a:prstGeom prst="rect">
            <a:avLst/>
          </a:prstGeom>
          <a:noFill/>
          <a:ln/>
        </p:spPr>
        <p:txBody>
          <a:bodyPr wrap="square" rtlCol="0" anchor="ctr"/>
          <a:lstStyle/>
          <a:p>
            <a:pPr indent="0" marL="0">
              <a:buNone/>
            </a:pPr>
            <a:r>
              <a:rPr lang="en-US" sz="1100" b="1" dirty="0">
                <a:solidFill>
                  <a:srgbClr val="1F3A5F"/>
                </a:solidFill>
                <a:latin typeface="Arial" pitchFamily="34" charset="0"/>
                <a:ea typeface="Arial" pitchFamily="34" charset="-122"/>
                <a:cs typeface="Arial" pitchFamily="34" charset="-120"/>
              </a:rPr>
              <a:t>Defense-in-depth:  </a:t>
            </a:r>
            <a:pPr indent="0" marL="0">
              <a:buNone/>
            </a:pPr>
            <a:r>
              <a:rPr lang="en-US" sz="1100" dirty="0">
                <a:solidFill>
                  <a:srgbClr val="1A2330"/>
                </a:solidFill>
                <a:latin typeface="Arial" pitchFamily="34" charset="0"/>
                <a:ea typeface="Arial" pitchFamily="34" charset="-122"/>
                <a:cs typeface="Arial" pitchFamily="34" charset="-120"/>
              </a:rPr>
              <a:t>even a prompt-injected agent can't exceed Ship's Zod-validated write surface — and every write is audit-stamped for instant rollback.</a:t>
            </a:r>
            <a:endParaRPr lang="en-US" sz="1100" dirty="0"/>
          </a:p>
        </p:txBody>
      </p:sp>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74320" y="164592"/>
            <a:ext cx="8595360" cy="274320"/>
          </a:xfrm>
          <a:prstGeom prst="rect">
            <a:avLst/>
          </a:prstGeom>
          <a:noFill/>
          <a:ln/>
        </p:spPr>
        <p:txBody>
          <a:bodyPr wrap="square" rtlCol="0" anchor="ctr"/>
          <a:lstStyle/>
          <a:p>
            <a:pPr indent="0" marL="0">
              <a:buNone/>
            </a:pPr>
            <a:r>
              <a:rPr lang="en-US" sz="1100" b="1" spc="200" kern="0" dirty="0">
                <a:solidFill>
                  <a:srgbClr val="2E6FB7"/>
                </a:solidFill>
                <a:latin typeface="Arial" pitchFamily="34" charset="0"/>
                <a:ea typeface="Arial" pitchFamily="34" charset="-122"/>
                <a:cs typeface="Arial" pitchFamily="34" charset="-120"/>
              </a:rPr>
              <a:t>ON-DEMAND</a:t>
            </a:r>
            <a:endParaRPr lang="en-US" sz="1100" dirty="0"/>
          </a:p>
        </p:txBody>
      </p:sp>
      <p:sp>
        <p:nvSpPr>
          <p:cNvPr id="3" name="Text 1"/>
          <p:cNvSpPr/>
          <p:nvPr/>
        </p:nvSpPr>
        <p:spPr>
          <a:xfrm>
            <a:off x="274320" y="384048"/>
            <a:ext cx="8595360" cy="548640"/>
          </a:xfrm>
          <a:prstGeom prst="rect">
            <a:avLst/>
          </a:prstGeom>
          <a:noFill/>
          <a:ln/>
        </p:spPr>
        <p:txBody>
          <a:bodyPr wrap="square" rtlCol="0" anchor="ctr"/>
          <a:lstStyle/>
          <a:p>
            <a:pPr indent="0" marL="0">
              <a:buNone/>
            </a:pPr>
            <a:r>
              <a:rPr lang="en-US" sz="2400" b="1" dirty="0">
                <a:solidFill>
                  <a:srgbClr val="1F3A5F"/>
                </a:solidFill>
                <a:latin typeface="Arial" pitchFamily="34" charset="0"/>
                <a:ea typeface="Arial" pitchFamily="34" charset="-122"/>
                <a:cs typeface="Arial" pitchFamily="34" charset="-120"/>
              </a:rPr>
              <a:t>Embedded chat, scoped to the view</a:t>
            </a:r>
            <a:endParaRPr lang="en-US" sz="2400" dirty="0"/>
          </a:p>
        </p:txBody>
      </p:sp>
      <p:sp>
        <p:nvSpPr>
          <p:cNvPr id="4" name="Shape 2"/>
          <p:cNvSpPr/>
          <p:nvPr/>
        </p:nvSpPr>
        <p:spPr>
          <a:xfrm>
            <a:off x="292608" y="950976"/>
            <a:ext cx="1005840" cy="0"/>
          </a:xfrm>
          <a:prstGeom prst="line">
            <a:avLst/>
          </a:prstGeom>
          <a:noFill/>
          <a:ln w="31750">
            <a:solidFill>
              <a:srgbClr val="C9892F"/>
            </a:solidFill>
            <a:prstDash val="solid"/>
          </a:ln>
        </p:spPr>
      </p:sp>
      <p:sp>
        <p:nvSpPr>
          <p:cNvPr id="5" name="Text 3"/>
          <p:cNvSpPr/>
          <p:nvPr/>
        </p:nvSpPr>
        <p:spPr>
          <a:xfrm>
            <a:off x="411480" y="1143000"/>
            <a:ext cx="8321040" cy="3566160"/>
          </a:xfrm>
          <a:prstGeom prst="rect">
            <a:avLst/>
          </a:prstGeom>
          <a:noFill/>
          <a:ln/>
        </p:spPr>
        <p:txBody>
          <a:bodyPr wrap="square" rtlCol="0" anchor="t"/>
          <a:lstStyle/>
          <a:p>
            <a:pPr marL="342900" indent="-342900">
              <a:lnSpc>
                <a:spcPct val="102000"/>
              </a:lnSpc>
              <a:spcAft>
                <a:spcPts val="700"/>
              </a:spcAft>
              <a:buSzPct val="100000"/>
              <a:buChar char="•"/>
            </a:pPr>
            <a:r>
              <a:rPr lang="en-US" sz="1300" b="1" dirty="0">
                <a:solidFill>
                  <a:srgbClr val="1F3A5F"/>
                </a:solidFill>
                <a:latin typeface="Arial" pitchFamily="34" charset="0"/>
                <a:ea typeface="Arial" pitchFamily="34" charset="-122"/>
                <a:cs typeface="Arial" pitchFamily="34" charset="-120"/>
              </a:rPr>
              <a:t>Lives inside the document editor — not a standalone chatbot page (a hard constraint).</a:t>
            </a:r>
            <a:endParaRPr lang="en-US" sz="1300" dirty="0"/>
          </a:p>
          <a:p>
            <a:pPr lvl="1" marL="457200" indent="-228600">
              <a:lnSpc>
                <a:spcPct val="102000"/>
              </a:lnSpc>
              <a:spcAft>
                <a:spcPts val="400"/>
              </a:spcAft>
              <a:buSzPct val="100000"/>
              <a:buChar char="•"/>
            </a:pPr>
            <a:r>
              <a:rPr lang="en-US" sz="1300" dirty="0">
                <a:solidFill>
                  <a:srgbClr val="1A2330"/>
                </a:solidFill>
                <a:latin typeface="Arial" pitchFamily="34" charset="0"/>
                <a:ea typeface="Arial" pitchFamily="34" charset="-122"/>
                <a:cs typeface="Arial" pitchFamily="34" charset="-120"/>
              </a:rPr>
              <a:t>Reads useCurrentDocument() → the open doc's id, type, and project become the chat's starting context automatically.</a:t>
            </a:r>
            <a:endParaRPr lang="en-US" sz="1300" dirty="0"/>
          </a:p>
          <a:p>
            <a:pPr lvl="1" marL="457200" indent="-228600">
              <a:lnSpc>
                <a:spcPct val="102000"/>
              </a:lnSpc>
              <a:spcAft>
                <a:spcPts val="400"/>
              </a:spcAft>
              <a:buSzPct val="100000"/>
              <a:buChar char="•"/>
            </a:pPr>
            <a:r>
              <a:rPr lang="en-US" sz="1300" dirty="0">
                <a:solidFill>
                  <a:srgbClr val="1A2330"/>
                </a:solidFill>
                <a:latin typeface="Arial" pitchFamily="34" charset="0"/>
                <a:ea typeface="Arial" pitchFamily="34" charset="-122"/>
                <a:cs typeface="Arial" pitchFamily="34" charset="-120"/>
              </a:rPr>
              <a:t>Chat on an issue knows that issue; on a sprint, that sprint. No “which issue do you mean?”</a:t>
            </a:r>
            <a:endParaRPr lang="en-US" sz="1300" dirty="0"/>
          </a:p>
          <a:p>
            <a:pPr marL="342900" indent="-342900">
              <a:lnSpc>
                <a:spcPct val="102000"/>
              </a:lnSpc>
              <a:spcAft>
                <a:spcPts val="700"/>
              </a:spcAft>
              <a:buSzPct val="100000"/>
              <a:buChar char="•"/>
            </a:pPr>
            <a:r>
              <a:rPr lang="en-US" sz="1300" b="1" dirty="0">
                <a:solidFill>
                  <a:srgbClr val="1F3A5F"/>
                </a:solidFill>
                <a:latin typeface="Arial" pitchFamily="34" charset="0"/>
                <a:ea typeface="Arial" pitchFamily="34" charset="-122"/>
                <a:cs typeface="Arial" pitchFamily="34" charset="-120"/>
              </a:rPr>
              <a:t>Same fetch + reasoning nodes as proactive mode — it can answer (“Is this sprint on track? Who's overloaded?”) and propose a fix.</a:t>
            </a:r>
            <a:endParaRPr lang="en-US" sz="1300" dirty="0"/>
          </a:p>
          <a:p>
            <a:pPr lvl="1" marL="457200" indent="-228600">
              <a:lnSpc>
                <a:spcPct val="102000"/>
              </a:lnSpc>
              <a:spcAft>
                <a:spcPts val="400"/>
              </a:spcAft>
              <a:buSzPct val="100000"/>
              <a:buChar char="•"/>
            </a:pPr>
            <a:r>
              <a:rPr lang="en-US" sz="1300" dirty="0">
                <a:solidFill>
                  <a:srgbClr val="1A2330"/>
                </a:solidFill>
                <a:latin typeface="Arial" pitchFamily="34" charset="0"/>
                <a:ea typeface="Arial" pitchFamily="34" charset="-122"/>
                <a:cs typeface="Arial" pitchFamily="34" charset="-120"/>
              </a:rPr>
              <a:t>Proposed writes route through the same HITL gate.</a:t>
            </a:r>
            <a:endParaRPr lang="en-US" sz="1300" dirty="0"/>
          </a:p>
          <a:p>
            <a:pPr marL="342900" indent="-342900">
              <a:lnSpc>
                <a:spcPct val="102000"/>
              </a:lnSpc>
              <a:spcAft>
                <a:spcPts val="700"/>
              </a:spcAft>
              <a:buSzPct val="100000"/>
              <a:buChar char="•"/>
            </a:pPr>
            <a:r>
              <a:rPr lang="en-US" sz="1300" b="1" dirty="0">
                <a:solidFill>
                  <a:srgbClr val="1F3A5F"/>
                </a:solidFill>
                <a:latin typeface="Arial" pitchFamily="34" charset="0"/>
                <a:ea typeface="Arial" pitchFamily="34" charset="-122"/>
                <a:cs typeface="Arial" pitchFamily="34" charset="-120"/>
              </a:rPr>
              <a:t>Delivery is in-app: a notification bell + inbox and toasts, reusing Ship's existing /events WebSocket + toast system.</a:t>
            </a:r>
            <a:endParaRPr lang="en-US" sz="1300" dirty="0"/>
          </a:p>
          <a:p>
            <a:pPr lvl="1" marL="457200" indent="-228600">
              <a:lnSpc>
                <a:spcPct val="102000"/>
              </a:lnSpc>
              <a:spcAft>
                <a:spcPts val="400"/>
              </a:spcAft>
              <a:buSzPct val="100000"/>
              <a:buChar char="•"/>
            </a:pPr>
            <a:r>
              <a:rPr lang="en-US" sz="1300" dirty="0">
                <a:solidFill>
                  <a:srgbClr val="1A2330"/>
                </a:solidFill>
                <a:latin typeface="Arial" pitchFamily="34" charset="0"/>
                <a:ea typeface="Arial" pitchFamily="34" charset="-122"/>
                <a:cs typeface="Arial" pitchFamily="34" charset="-120"/>
              </a:rPr>
              <a:t>New event types fleetgraph:finding / fleetgraph:interrupt ride the channel that already exists.</a:t>
            </a:r>
            <a:endParaRPr lang="en-US" sz="1300" dirty="0"/>
          </a:p>
        </p:txBody>
      </p:sp>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74320" y="164592"/>
            <a:ext cx="8595360" cy="274320"/>
          </a:xfrm>
          <a:prstGeom prst="rect">
            <a:avLst/>
          </a:prstGeom>
          <a:noFill/>
          <a:ln/>
        </p:spPr>
        <p:txBody>
          <a:bodyPr wrap="square" rtlCol="0" anchor="ctr"/>
          <a:lstStyle/>
          <a:p>
            <a:pPr indent="0" marL="0">
              <a:buNone/>
            </a:pPr>
            <a:r>
              <a:rPr lang="en-US" sz="1100" b="1" spc="200" kern="0" dirty="0">
                <a:solidFill>
                  <a:srgbClr val="2E6FB7"/>
                </a:solidFill>
                <a:latin typeface="Arial" pitchFamily="34" charset="0"/>
                <a:ea typeface="Arial" pitchFamily="34" charset="-122"/>
                <a:cs typeface="Arial" pitchFamily="34" charset="-120"/>
              </a:rPr>
              <a:t>DEPLOYMENT &amp; STACK</a:t>
            </a:r>
            <a:endParaRPr lang="en-US" sz="1100" dirty="0"/>
          </a:p>
        </p:txBody>
      </p:sp>
      <p:sp>
        <p:nvSpPr>
          <p:cNvPr id="3" name="Text 1"/>
          <p:cNvSpPr/>
          <p:nvPr/>
        </p:nvSpPr>
        <p:spPr>
          <a:xfrm>
            <a:off x="274320" y="384048"/>
            <a:ext cx="8595360" cy="548640"/>
          </a:xfrm>
          <a:prstGeom prst="rect">
            <a:avLst/>
          </a:prstGeom>
          <a:noFill/>
          <a:ln/>
        </p:spPr>
        <p:txBody>
          <a:bodyPr wrap="square" rtlCol="0" anchor="ctr"/>
          <a:lstStyle/>
          <a:p>
            <a:pPr indent="0" marL="0">
              <a:buNone/>
            </a:pPr>
            <a:r>
              <a:rPr lang="en-US" sz="2400" b="1" dirty="0">
                <a:solidFill>
                  <a:srgbClr val="1F3A5F"/>
                </a:solidFill>
                <a:latin typeface="Arial" pitchFamily="34" charset="0"/>
                <a:ea typeface="Arial" pitchFamily="34" charset="-122"/>
                <a:cs typeface="Arial" pitchFamily="34" charset="-120"/>
              </a:rPr>
              <a:t>Reuse Ship's primitives; add little</a:t>
            </a:r>
            <a:endParaRPr lang="en-US" sz="2400" dirty="0"/>
          </a:p>
        </p:txBody>
      </p:sp>
      <p:sp>
        <p:nvSpPr>
          <p:cNvPr id="4" name="Shape 2"/>
          <p:cNvSpPr/>
          <p:nvPr/>
        </p:nvSpPr>
        <p:spPr>
          <a:xfrm>
            <a:off x="292608" y="950976"/>
            <a:ext cx="1005840" cy="0"/>
          </a:xfrm>
          <a:prstGeom prst="line">
            <a:avLst/>
          </a:prstGeom>
          <a:noFill/>
          <a:ln w="31750">
            <a:solidFill>
              <a:srgbClr val="C9892F"/>
            </a:solidFill>
            <a:prstDash val="solid"/>
          </a:ln>
        </p:spPr>
      </p:sp>
      <p:sp>
        <p:nvSpPr>
          <p:cNvPr id="5" name="Text 3"/>
          <p:cNvSpPr/>
          <p:nvPr/>
        </p:nvSpPr>
        <p:spPr>
          <a:xfrm>
            <a:off x="411480" y="1143000"/>
            <a:ext cx="4114800" cy="274320"/>
          </a:xfrm>
          <a:prstGeom prst="rect">
            <a:avLst/>
          </a:prstGeom>
          <a:noFill/>
          <a:ln/>
        </p:spPr>
        <p:txBody>
          <a:bodyPr wrap="square" rtlCol="0" anchor="ctr"/>
          <a:lstStyle/>
          <a:p>
            <a:pPr indent="0" marL="0">
              <a:buNone/>
            </a:pPr>
            <a:r>
              <a:rPr lang="en-US" sz="1200" b="1" dirty="0">
                <a:solidFill>
                  <a:srgbClr val="2E7D5B"/>
                </a:solidFill>
                <a:latin typeface="Arial" pitchFamily="34" charset="0"/>
                <a:ea typeface="Arial" pitchFamily="34" charset="-122"/>
                <a:cs typeface="Arial" pitchFamily="34" charset="-120"/>
              </a:rPr>
              <a:t>REUSED (already in Ship, in prod)</a:t>
            </a:r>
            <a:endParaRPr lang="en-US" sz="1200" dirty="0"/>
          </a:p>
        </p:txBody>
      </p:sp>
      <p:sp>
        <p:nvSpPr>
          <p:cNvPr id="6" name="Text 4"/>
          <p:cNvSpPr/>
          <p:nvPr/>
        </p:nvSpPr>
        <p:spPr>
          <a:xfrm>
            <a:off x="457200" y="1463040"/>
            <a:ext cx="4069080" cy="2743200"/>
          </a:xfrm>
          <a:prstGeom prst="rect">
            <a:avLst/>
          </a:prstGeom>
          <a:noFill/>
          <a:ln/>
        </p:spPr>
        <p:txBody>
          <a:bodyPr wrap="square" rtlCol="0" anchor="t"/>
          <a:lstStyle/>
          <a:p>
            <a:pPr marL="342900" indent="-342900">
              <a:spcAft>
                <a:spcPts val="500"/>
              </a:spcAft>
              <a:buSzPct val="100000"/>
              <a:buChar char="•"/>
            </a:pPr>
            <a:r>
              <a:rPr lang="en-US" sz="1100" dirty="0">
                <a:solidFill>
                  <a:srgbClr val="1A2330"/>
                </a:solidFill>
                <a:latin typeface="Arial" pitchFamily="34" charset="0"/>
                <a:ea typeface="Arial" pitchFamily="34" charset="-122"/>
                <a:cs typeface="Arial" pitchFamily="34" charset="-120"/>
              </a:rPr>
              <a:t>AWS Bedrock → Claude Opus 4.5 + Haiku (IAM role, no new key)</a:t>
            </a:r>
            <a:endParaRPr lang="en-US" sz="1100" dirty="0"/>
          </a:p>
          <a:p>
            <a:pPr marL="342900" indent="-342900">
              <a:spcAft>
                <a:spcPts val="500"/>
              </a:spcAft>
              <a:buSzPct val="100000"/>
              <a:buChar char="•"/>
            </a:pPr>
            <a:r>
              <a:rPr lang="en-US" sz="1100" dirty="0">
                <a:solidFill>
                  <a:srgbClr val="1A2330"/>
                </a:solidFill>
                <a:latin typeface="Arial" pitchFamily="34" charset="0"/>
                <a:ea typeface="Arial" pitchFamily="34" charset="-122"/>
                <a:cs typeface="Arial" pitchFamily="34" charset="-120"/>
              </a:rPr>
              <a:t>broadcastToUser() + /events WebSocket + toast</a:t>
            </a:r>
            <a:endParaRPr lang="en-US" sz="1100" dirty="0"/>
          </a:p>
          <a:p>
            <a:pPr marL="342900" indent="-342900">
              <a:spcAft>
                <a:spcPts val="500"/>
              </a:spcAft>
              <a:buSzPct val="100000"/>
              <a:buChar char="•"/>
            </a:pPr>
            <a:r>
              <a:rPr lang="en-US" sz="1100" dirty="0">
                <a:solidFill>
                  <a:srgbClr val="1A2330"/>
                </a:solidFill>
                <a:latin typeface="Arial" pitchFamily="34" charset="0"/>
                <a:ea typeface="Arial" pitchFamily="34" charset="-122"/>
                <a:cs typeface="Arial" pitchFamily="34" charset="-120"/>
              </a:rPr>
              <a:t>Deterministic detectors (accountability.ts pattern)</a:t>
            </a:r>
            <a:endParaRPr lang="en-US" sz="1100" dirty="0"/>
          </a:p>
          <a:p>
            <a:pPr marL="342900" indent="-342900">
              <a:spcAft>
                <a:spcPts val="500"/>
              </a:spcAft>
              <a:buSzPct val="100000"/>
              <a:buChar char="•"/>
            </a:pPr>
            <a:r>
              <a:rPr lang="en-US" sz="1100" dirty="0">
                <a:solidFill>
                  <a:srgbClr val="1A2330"/>
                </a:solidFill>
                <a:latin typeface="Arial" pitchFamily="34" charset="0"/>
                <a:ea typeface="Arial" pitchFamily="34" charset="-122"/>
                <a:cs typeface="Arial" pitchFamily="34" charset="-120"/>
              </a:rPr>
              <a:t>Every REST route → MCP tool via OpenAPI</a:t>
            </a:r>
            <a:endParaRPr lang="en-US" sz="1100" dirty="0"/>
          </a:p>
          <a:p>
            <a:pPr marL="342900" indent="-342900">
              <a:spcAft>
                <a:spcPts val="500"/>
              </a:spcAft>
              <a:buSzPct val="100000"/>
              <a:buChar char="•"/>
            </a:pPr>
            <a:r>
              <a:rPr lang="en-US" sz="1100" dirty="0">
                <a:solidFill>
                  <a:srgbClr val="1A2330"/>
                </a:solidFill>
                <a:latin typeface="Arial" pitchFamily="34" charset="0"/>
                <a:ea typeface="Arial" pitchFamily="34" charset="-122"/>
                <a:cs typeface="Arial" pitchFamily="34" charset="-120"/>
              </a:rPr>
              <a:t>Bearer token auth (no user session) for proactive runs</a:t>
            </a:r>
            <a:endParaRPr lang="en-US" sz="1100" dirty="0"/>
          </a:p>
          <a:p>
            <a:pPr marL="342900" indent="-342900">
              <a:buSzPct val="100000"/>
              <a:buChar char="•"/>
            </a:pPr>
            <a:r>
              <a:rPr lang="en-US" sz="1100" dirty="0">
                <a:solidFill>
                  <a:srgbClr val="1A2330"/>
                </a:solidFill>
                <a:latin typeface="Arial" pitchFamily="34" charset="0"/>
                <a:ea typeface="Arial" pitchFamily="34" charset="-122"/>
                <a:cs typeface="Arial" pitchFamily="34" charset="-120"/>
              </a:rPr>
              <a:t>document_history.automated_by audit trail</a:t>
            </a:r>
            <a:endParaRPr lang="en-US" sz="1100" dirty="0"/>
          </a:p>
        </p:txBody>
      </p:sp>
      <p:sp>
        <p:nvSpPr>
          <p:cNvPr id="7" name="Text 5"/>
          <p:cNvSpPr/>
          <p:nvPr/>
        </p:nvSpPr>
        <p:spPr>
          <a:xfrm>
            <a:off x="4709160" y="1143000"/>
            <a:ext cx="4114800" cy="274320"/>
          </a:xfrm>
          <a:prstGeom prst="rect">
            <a:avLst/>
          </a:prstGeom>
          <a:noFill/>
          <a:ln/>
        </p:spPr>
        <p:txBody>
          <a:bodyPr wrap="square" rtlCol="0" anchor="ctr"/>
          <a:lstStyle/>
          <a:p>
            <a:pPr indent="0" marL="0">
              <a:buNone/>
            </a:pPr>
            <a:r>
              <a:rPr lang="en-US" sz="1200" b="1" dirty="0">
                <a:solidFill>
                  <a:srgbClr val="2E6FB7"/>
                </a:solidFill>
                <a:latin typeface="Arial" pitchFamily="34" charset="0"/>
                <a:ea typeface="Arial" pitchFamily="34" charset="-122"/>
                <a:cs typeface="Arial" pitchFamily="34" charset="-120"/>
              </a:rPr>
              <a:t>NET-NEW (kept minimal)</a:t>
            </a:r>
            <a:endParaRPr lang="en-US" sz="1200" dirty="0"/>
          </a:p>
        </p:txBody>
      </p:sp>
      <p:sp>
        <p:nvSpPr>
          <p:cNvPr id="8" name="Text 6"/>
          <p:cNvSpPr/>
          <p:nvPr/>
        </p:nvSpPr>
        <p:spPr>
          <a:xfrm>
            <a:off x="4754880" y="1463040"/>
            <a:ext cx="4069080" cy="2743200"/>
          </a:xfrm>
          <a:prstGeom prst="rect">
            <a:avLst/>
          </a:prstGeom>
          <a:noFill/>
          <a:ln/>
        </p:spPr>
        <p:txBody>
          <a:bodyPr wrap="square" rtlCol="0" anchor="t"/>
          <a:lstStyle/>
          <a:p>
            <a:pPr marL="342900" indent="-342900">
              <a:spcAft>
                <a:spcPts val="500"/>
              </a:spcAft>
              <a:buSzPct val="100000"/>
              <a:buChar char="•"/>
            </a:pPr>
            <a:r>
              <a:rPr lang="en-US" sz="1100" dirty="0">
                <a:solidFill>
                  <a:srgbClr val="1A2330"/>
                </a:solidFill>
                <a:latin typeface="Arial" pitchFamily="34" charset="0"/>
                <a:ea typeface="Arial" pitchFamily="34" charset="-122"/>
                <a:cs typeface="Arial" pitchFamily="34" charset="-120"/>
              </a:rPr>
              <a:t>The LangGraph.js graph (runs inside the EB API)</a:t>
            </a:r>
            <a:endParaRPr lang="en-US" sz="1100" dirty="0"/>
          </a:p>
          <a:p>
            <a:pPr marL="342900" indent="-342900">
              <a:spcAft>
                <a:spcPts val="500"/>
              </a:spcAft>
              <a:buSzPct val="100000"/>
              <a:buChar char="•"/>
            </a:pPr>
            <a:r>
              <a:rPr lang="en-US" sz="1100" dirty="0">
                <a:solidFill>
                  <a:srgbClr val="1A2330"/>
                </a:solidFill>
                <a:latin typeface="Arial" pitchFamily="34" charset="0"/>
                <a:ea typeface="Arial" pitchFamily="34" charset="-122"/>
                <a:cs typeface="Arial" pitchFamily="34" charset="-120"/>
              </a:rPr>
              <a:t>Postgres checkpointer (HITL survives deploy/scale)</a:t>
            </a:r>
            <a:endParaRPr lang="en-US" sz="1100" dirty="0"/>
          </a:p>
          <a:p>
            <a:pPr marL="342900" indent="-342900">
              <a:spcAft>
                <a:spcPts val="500"/>
              </a:spcAft>
              <a:buSzPct val="100000"/>
              <a:buChar char="•"/>
            </a:pPr>
            <a:r>
              <a:rPr lang="en-US" sz="1100" dirty="0">
                <a:solidFill>
                  <a:srgbClr val="1A2330"/>
                </a:solidFill>
                <a:latin typeface="Arial" pitchFamily="34" charset="0"/>
                <a:ea typeface="Arial" pitchFamily="34" charset="-122"/>
                <a:cs typeface="Arial" pitchFamily="34" charset="-120"/>
              </a:rPr>
              <a:t>One fleetgraph_findings table (dedup + lifecycle)</a:t>
            </a:r>
            <a:endParaRPr lang="en-US" sz="1100" dirty="0"/>
          </a:p>
          <a:p>
            <a:pPr marL="342900" indent="-342900">
              <a:spcAft>
                <a:spcPts val="500"/>
              </a:spcAft>
              <a:buSzPct val="100000"/>
              <a:buChar char="•"/>
            </a:pPr>
            <a:r>
              <a:rPr lang="en-US" sz="1100" dirty="0">
                <a:solidFill>
                  <a:srgbClr val="1A2330"/>
                </a:solidFill>
                <a:latin typeface="Arial" pitchFamily="34" charset="0"/>
                <a:ea typeface="Arial" pitchFamily="34" charset="-122"/>
                <a:cs typeface="Arial" pitchFamily="34" charset="-120"/>
              </a:rPr>
              <a:t>Debounced run queue + node-cron sweep (advisory lock)</a:t>
            </a:r>
            <a:endParaRPr lang="en-US" sz="1100" dirty="0"/>
          </a:p>
          <a:p>
            <a:pPr marL="342900" indent="-342900">
              <a:spcAft>
                <a:spcPts val="500"/>
              </a:spcAft>
              <a:buSzPct val="100000"/>
              <a:buChar char="•"/>
            </a:pPr>
            <a:r>
              <a:rPr lang="en-US" sz="1100" dirty="0">
                <a:solidFill>
                  <a:srgbClr val="1A2330"/>
                </a:solidFill>
                <a:latin typeface="Arial" pitchFamily="34" charset="0"/>
                <a:ea typeface="Arial" pitchFamily="34" charset="-122"/>
                <a:cs typeface="Arial" pitchFamily="34" charset="-120"/>
              </a:rPr>
              <a:t>2 WS event types + chat/inbox/resume endpoints</a:t>
            </a:r>
            <a:endParaRPr lang="en-US" sz="1100" dirty="0"/>
          </a:p>
          <a:p>
            <a:pPr marL="342900" indent="-342900">
              <a:buSzPct val="100000"/>
              <a:buChar char="•"/>
            </a:pPr>
            <a:r>
              <a:rPr lang="en-US" sz="1100" dirty="0">
                <a:solidFill>
                  <a:srgbClr val="1A2330"/>
                </a:solidFill>
                <a:latin typeface="Arial" pitchFamily="34" charset="0"/>
                <a:ea typeface="Arial" pitchFamily="34" charset="-122"/>
                <a:cs typeface="Arial" pitchFamily="34" charset="-120"/>
              </a:rPr>
              <a:t>Embedded ChatPanel + notification bell/inbox UI</a:t>
            </a:r>
            <a:endParaRPr lang="en-US" sz="1100" dirty="0"/>
          </a:p>
        </p:txBody>
      </p:sp>
      <p:sp>
        <p:nvSpPr>
          <p:cNvPr id="9" name="Shape 7"/>
          <p:cNvSpPr/>
          <p:nvPr/>
        </p:nvSpPr>
        <p:spPr>
          <a:xfrm>
            <a:off x="411480" y="4224528"/>
            <a:ext cx="8321040" cy="502920"/>
          </a:xfrm>
          <a:prstGeom prst="roundRect">
            <a:avLst>
              <a:gd name="adj" fmla="val 14545"/>
            </a:avLst>
          </a:prstGeom>
          <a:solidFill>
            <a:srgbClr val="1F3A5F"/>
          </a:solidFill>
          <a:ln/>
        </p:spPr>
      </p:sp>
      <p:sp>
        <p:nvSpPr>
          <p:cNvPr id="10" name="Text 8"/>
          <p:cNvSpPr/>
          <p:nvPr/>
        </p:nvSpPr>
        <p:spPr>
          <a:xfrm>
            <a:off x="548640" y="4224528"/>
            <a:ext cx="8138160" cy="5029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No new service, no new secret store, no Python.  </a:t>
            </a:r>
            <a:pPr indent="0" marL="0">
              <a:buNone/>
            </a:pPr>
            <a:r>
              <a:rPr lang="en-US" sz="1150" dirty="0">
                <a:solidFill>
                  <a:srgbClr val="B9CBE0"/>
                </a:solidFill>
                <a:latin typeface="Arial" pitchFamily="34" charset="0"/>
                <a:ea typeface="Arial" pitchFamily="34" charset="-122"/>
                <a:cs typeface="Arial" pitchFamily="34" charset="-120"/>
              </a:rPr>
              <a:t>LangSmith tracing on from day one; Bedrock token usage feeds cost reporting.</a:t>
            </a:r>
            <a:endParaRPr lang="en-US" sz="1150" dirty="0"/>
          </a:p>
        </p:txBody>
      </p:sp>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274320" y="164592"/>
            <a:ext cx="8595360" cy="274320"/>
          </a:xfrm>
          <a:prstGeom prst="rect">
            <a:avLst/>
          </a:prstGeom>
          <a:noFill/>
          <a:ln/>
        </p:spPr>
        <p:txBody>
          <a:bodyPr wrap="square" rtlCol="0" anchor="ctr"/>
          <a:lstStyle/>
          <a:p>
            <a:pPr indent="0" marL="0">
              <a:buNone/>
            </a:pPr>
            <a:r>
              <a:rPr lang="en-US" sz="1100" b="1" spc="200" kern="0" dirty="0">
                <a:solidFill>
                  <a:srgbClr val="2E6FB7"/>
                </a:solidFill>
                <a:latin typeface="Arial" pitchFamily="34" charset="0"/>
                <a:ea typeface="Arial" pitchFamily="34" charset="-122"/>
                <a:cs typeface="Arial" pitchFamily="34" charset="-120"/>
              </a:rPr>
              <a:t>COST &amp; LATENCY</a:t>
            </a:r>
            <a:endParaRPr lang="en-US" sz="1100" dirty="0"/>
          </a:p>
        </p:txBody>
      </p:sp>
      <p:sp>
        <p:nvSpPr>
          <p:cNvPr id="3" name="Text 1"/>
          <p:cNvSpPr/>
          <p:nvPr/>
        </p:nvSpPr>
        <p:spPr>
          <a:xfrm>
            <a:off x="274320" y="384048"/>
            <a:ext cx="8595360" cy="548640"/>
          </a:xfrm>
          <a:prstGeom prst="rect">
            <a:avLst/>
          </a:prstGeom>
          <a:noFill/>
          <a:ln/>
        </p:spPr>
        <p:txBody>
          <a:bodyPr wrap="square" rtlCol="0" anchor="ctr"/>
          <a:lstStyle/>
          <a:p>
            <a:pPr indent="0" marL="0">
              <a:buNone/>
            </a:pPr>
            <a:r>
              <a:rPr lang="en-US" sz="2400" b="1" dirty="0">
                <a:solidFill>
                  <a:srgbClr val="1F3A5F"/>
                </a:solidFill>
                <a:latin typeface="Arial" pitchFamily="34" charset="0"/>
                <a:ea typeface="Arial" pitchFamily="34" charset="-122"/>
                <a:cs typeface="Arial" pitchFamily="34" charset="-120"/>
              </a:rPr>
              <a:t>Most runs cost nothing</a:t>
            </a:r>
            <a:endParaRPr lang="en-US" sz="2400" dirty="0"/>
          </a:p>
        </p:txBody>
      </p:sp>
      <p:sp>
        <p:nvSpPr>
          <p:cNvPr id="4" name="Shape 2"/>
          <p:cNvSpPr/>
          <p:nvPr/>
        </p:nvSpPr>
        <p:spPr>
          <a:xfrm>
            <a:off x="292608" y="950976"/>
            <a:ext cx="1005840" cy="0"/>
          </a:xfrm>
          <a:prstGeom prst="line">
            <a:avLst/>
          </a:prstGeom>
          <a:noFill/>
          <a:ln w="31750">
            <a:solidFill>
              <a:srgbClr val="C9892F"/>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914400"/>
        </p:xfrm>
        <a:graphic>
          <a:graphicData uri="http://schemas.openxmlformats.org/drawingml/2006/table">
            <a:tbl>
              <a:tblPr/>
              <a:tblGrid>
                <a:gridCol w="3017520"/>
                <a:gridCol w="1097280"/>
                <a:gridCol w="1280160"/>
                <a:gridCol w="3017520"/>
              </a:tblGrid>
              <a:tr h="45720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Path</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1F3A5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Tier-1</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1F3A5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Tier-2</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1F3A5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Note</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1F3A5F"/>
                    </a:solidFill>
                  </a:tcPr>
                </a:tc>
              </a:tr>
              <a:tr h="457200">
                <a:tc>
                  <a:txBody>
                    <a:bodyPr/>
                    <a:lstStyle/>
                    <a:p>
                      <a:pPr algn="l" indent="0" marL="0">
                        <a:buNone/>
                      </a:pPr>
                      <a:r>
                        <a:rPr lang="en-US" sz="1100" b="1" dirty="0">
                          <a:solidFill>
                            <a:srgbClr val="1A2330"/>
                          </a:solidFill>
                          <a:latin typeface="Arial" pitchFamily="34" charset="0"/>
                          <a:ea typeface="Arial" pitchFamily="34" charset="-122"/>
                          <a:cs typeface="Arial" pitchFamily="34" charset="-120"/>
                        </a:rPr>
                        <a:t>Quiet (dedup short-circuit)</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330"/>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330"/>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330"/>
                          </a:solidFill>
                          <a:latin typeface="Arial" pitchFamily="34" charset="0"/>
                          <a:ea typeface="Arial" pitchFamily="34" charset="-122"/>
                          <a:cs typeface="Arial" pitchFamily="34" charset="-120"/>
                        </a:rPr>
                        <a:t>dominant case — pure SQL/REST</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1A2330"/>
                          </a:solidFill>
                          <a:latin typeface="Arial" pitchFamily="34" charset="0"/>
                          <a:ea typeface="Arial" pitchFamily="34" charset="-122"/>
                          <a:cs typeface="Arial" pitchFamily="34" charset="-120"/>
                        </a:rPr>
                        <a:t>Autonomous finding</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A2330"/>
                          </a:solidFill>
                          <a:latin typeface="Arial" pitchFamily="34" charset="0"/>
                          <a:ea typeface="Arial" pitchFamily="34" charset="-122"/>
                          <a:cs typeface="Arial" pitchFamily="34" charset="-120"/>
                        </a:rPr>
                        <a:t>~1–3k</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A2330"/>
                          </a:solidFill>
                          <a:latin typeface="Arial" pitchFamily="34" charset="0"/>
                          <a:ea typeface="Arial" pitchFamily="34" charset="-122"/>
                          <a:cs typeface="Arial" pitchFamily="34" charset="-120"/>
                        </a:rPr>
                        <a:t>~2–5k</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A2330"/>
                          </a:solidFill>
                          <a:latin typeface="Arial" pitchFamily="34" charset="0"/>
                          <a:ea typeface="Arial" pitchFamily="34" charset="-122"/>
                          <a:cs typeface="Arial" pitchFamily="34" charset="-120"/>
                        </a:rPr>
                        <a:t>one batched triage + one draft</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r>
              <a:tr h="457200">
                <a:tc>
                  <a:txBody>
                    <a:bodyPr/>
                    <a:lstStyle/>
                    <a:p>
                      <a:pPr algn="l" indent="0" marL="0">
                        <a:buNone/>
                      </a:pPr>
                      <a:r>
                        <a:rPr lang="en-US" sz="1100" b="1" dirty="0">
                          <a:solidFill>
                            <a:srgbClr val="1A2330"/>
                          </a:solidFill>
                          <a:latin typeface="Arial" pitchFamily="34" charset="0"/>
                          <a:ea typeface="Arial" pitchFamily="34" charset="-122"/>
                          <a:cs typeface="Arial" pitchFamily="34" charset="-120"/>
                        </a:rPr>
                        <a:t>HITL</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330"/>
                          </a:solidFill>
                          <a:latin typeface="Arial" pitchFamily="34" charset="0"/>
                          <a:ea typeface="Arial" pitchFamily="34" charset="-122"/>
                          <a:cs typeface="Arial" pitchFamily="34" charset="-120"/>
                        </a:rPr>
                        <a:t>~1–3k</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330"/>
                          </a:solidFill>
                          <a:latin typeface="Arial" pitchFamily="34" charset="0"/>
                          <a:ea typeface="Arial" pitchFamily="34" charset="-122"/>
                          <a:cs typeface="Arial" pitchFamily="34" charset="-120"/>
                        </a:rPr>
                        <a:t>~3–6k</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330"/>
                          </a:solidFill>
                          <a:latin typeface="Arial" pitchFamily="34" charset="0"/>
                          <a:ea typeface="Arial" pitchFamily="34" charset="-122"/>
                          <a:cs typeface="Arial" pitchFamily="34" charset="-120"/>
                        </a:rPr>
                        <a:t>resume adds 0 model tokens</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1A2330"/>
                          </a:solidFill>
                          <a:latin typeface="Arial" pitchFamily="34" charset="0"/>
                          <a:ea typeface="Arial" pitchFamily="34" charset="-122"/>
                          <a:cs typeface="Arial" pitchFamily="34" charset="-120"/>
                        </a:rPr>
                        <a:t>On-demand answer</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A2330"/>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A2330"/>
                          </a:solidFill>
                          <a:latin typeface="Arial" pitchFamily="34" charset="0"/>
                          <a:ea typeface="Arial" pitchFamily="34" charset="-122"/>
                          <a:cs typeface="Arial" pitchFamily="34" charset="-120"/>
                        </a:rPr>
                        <a:t>~3–9k</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A2330"/>
                          </a:solidFill>
                          <a:latin typeface="Arial" pitchFamily="34" charset="0"/>
                          <a:ea typeface="Arial" pitchFamily="34" charset="-122"/>
                          <a:cs typeface="Arial" pitchFamily="34" charset="-120"/>
                        </a:rPr>
                        <a:t>user-initiated, latency-tolerant</a:t>
                      </a:r>
                      <a:endParaRPr lang="en-US" sz="110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r>
            </a:tbl>
          </a:graphicData>
        </a:graphic>
      </p:graphicFrame>
      <p:sp>
        <p:nvSpPr>
          <p:cNvPr id="6" name="Text 3"/>
          <p:cNvSpPr/>
          <p:nvPr/>
        </p:nvSpPr>
        <p:spPr>
          <a:xfrm>
            <a:off x="411480" y="3611880"/>
            <a:ext cx="8229600" cy="274320"/>
          </a:xfrm>
          <a:prstGeom prst="rect">
            <a:avLst/>
          </a:prstGeom>
          <a:noFill/>
          <a:ln/>
        </p:spPr>
        <p:txBody>
          <a:bodyPr wrap="square" rtlCol="0" anchor="ctr"/>
          <a:lstStyle/>
          <a:p>
            <a:pPr indent="0" marL="0">
              <a:buNone/>
            </a:pPr>
            <a:r>
              <a:rPr lang="en-US" sz="1200" b="1" dirty="0">
                <a:solidFill>
                  <a:srgbClr val="1F3A5F"/>
                </a:solidFill>
                <a:latin typeface="Arial" pitchFamily="34" charset="0"/>
                <a:ea typeface="Arial" pitchFamily="34" charset="-122"/>
                <a:cs typeface="Arial" pitchFamily="34" charset="-120"/>
              </a:rPr>
              <a:t>Cost cliffs — and how the graph defends them</a:t>
            </a:r>
            <a:endParaRPr lang="en-US" sz="1200" dirty="0"/>
          </a:p>
        </p:txBody>
      </p:sp>
      <p:sp>
        <p:nvSpPr>
          <p:cNvPr id="7" name="Text 4"/>
          <p:cNvSpPr/>
          <p:nvPr/>
        </p:nvSpPr>
        <p:spPr>
          <a:xfrm>
            <a:off x="411480" y="3886200"/>
            <a:ext cx="8321040" cy="914400"/>
          </a:xfrm>
          <a:prstGeom prst="rect">
            <a:avLst/>
          </a:prstGeom>
          <a:noFill/>
          <a:ln/>
        </p:spPr>
        <p:txBody>
          <a:bodyPr wrap="square" rtlCol="0" anchor="t"/>
          <a:lstStyle/>
          <a:p>
            <a:pPr lvl="1" marL="457200" indent="-228600">
              <a:lnSpc>
                <a:spcPct val="102000"/>
              </a:lnSpc>
              <a:spcAft>
                <a:spcPts val="400"/>
              </a:spcAft>
              <a:buSzPct val="100000"/>
              <a:buChar char="•"/>
            </a:pPr>
            <a:r>
              <a:rPr lang="en-US" sz="1300" dirty="0">
                <a:solidFill>
                  <a:srgbClr val="1A2330"/>
                </a:solidFill>
                <a:latin typeface="Arial" pitchFamily="34" charset="0"/>
                <a:ea typeface="Arial" pitchFamily="34" charset="-122"/>
                <a:cs typeface="Arial" pitchFamily="34" charset="-120"/>
              </a:rPr>
              <a:t>Dedup before any LLM call — known conditions never re-reason (the big lever).</a:t>
            </a:r>
            <a:endParaRPr lang="en-US" sz="1300" dirty="0"/>
          </a:p>
          <a:p>
            <a:pPr lvl="1" marL="457200" indent="-228600">
              <a:lnSpc>
                <a:spcPct val="102000"/>
              </a:lnSpc>
              <a:spcAft>
                <a:spcPts val="400"/>
              </a:spcAft>
              <a:buSzPct val="100000"/>
              <a:buChar char="•"/>
            </a:pPr>
            <a:r>
              <a:rPr lang="en-US" sz="1300" dirty="0">
                <a:solidFill>
                  <a:srgbClr val="1A2330"/>
                </a:solidFill>
                <a:latin typeface="Arial" pitchFamily="34" charset="0"/>
                <a:ea typeface="Arial" pitchFamily="34" charset="-122"/>
                <a:cs typeface="Arial" pitchFamily="34" charset="-120"/>
              </a:rPr>
              <a:t>Batch triage on the cheap tier; the expensive tier only sees triage survivors.</a:t>
            </a:r>
            <a:endParaRPr lang="en-US" sz="1300" dirty="0"/>
          </a:p>
          <a:p>
            <a:pPr lvl="1" marL="457200" indent="-228600">
              <a:lnSpc>
                <a:spcPct val="102000"/>
              </a:lnSpc>
              <a:spcAft>
                <a:spcPts val="400"/>
              </a:spcAft>
              <a:buSzPct val="100000"/>
              <a:buChar char="•"/>
            </a:pPr>
            <a:r>
              <a:rPr lang="en-US" sz="1300" dirty="0">
                <a:solidFill>
                  <a:srgbClr val="1A2330"/>
                </a:solidFill>
                <a:latin typeface="Arial" pitchFamily="34" charset="0"/>
                <a:ea typeface="Arial" pitchFamily="34" charset="-122"/>
                <a:cs typeface="Arial" pitchFamily="34" charset="-120"/>
              </a:rPr>
              <a:t>Scope fetches to active sprints; cache within a run — no fan-out explosion.</a:t>
            </a:r>
            <a:endParaRPr lang="en-US" sz="1300" dirty="0"/>
          </a:p>
        </p:txBody>
      </p:sp>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274320" y="164592"/>
            <a:ext cx="8595360" cy="274320"/>
          </a:xfrm>
          <a:prstGeom prst="rect">
            <a:avLst/>
          </a:prstGeom>
          <a:noFill/>
          <a:ln/>
        </p:spPr>
        <p:txBody>
          <a:bodyPr wrap="square" rtlCol="0" anchor="ctr"/>
          <a:lstStyle/>
          <a:p>
            <a:pPr indent="0" marL="0">
              <a:buNone/>
            </a:pPr>
            <a:r>
              <a:rPr lang="en-US" sz="1100" b="1" spc="200" kern="0" dirty="0">
                <a:solidFill>
                  <a:srgbClr val="2E6FB7"/>
                </a:solidFill>
                <a:latin typeface="Arial" pitchFamily="34" charset="0"/>
                <a:ea typeface="Arial" pitchFamily="34" charset="-122"/>
                <a:cs typeface="Arial" pitchFamily="34" charset="-120"/>
              </a:rPr>
              <a:t>ROADMAP</a:t>
            </a:r>
            <a:endParaRPr lang="en-US" sz="1100" dirty="0"/>
          </a:p>
        </p:txBody>
      </p:sp>
      <p:sp>
        <p:nvSpPr>
          <p:cNvPr id="3" name="Text 1"/>
          <p:cNvSpPr/>
          <p:nvPr/>
        </p:nvSpPr>
        <p:spPr>
          <a:xfrm>
            <a:off x="274320" y="384048"/>
            <a:ext cx="8595360" cy="548640"/>
          </a:xfrm>
          <a:prstGeom prst="rect">
            <a:avLst/>
          </a:prstGeom>
          <a:noFill/>
          <a:ln/>
        </p:spPr>
        <p:txBody>
          <a:bodyPr wrap="square" rtlCol="0" anchor="ctr"/>
          <a:lstStyle/>
          <a:p>
            <a:pPr indent="0" marL="0">
              <a:buNone/>
            </a:pPr>
            <a:r>
              <a:rPr lang="en-US" sz="2400" b="1" dirty="0">
                <a:solidFill>
                  <a:srgbClr val="1F3A5F"/>
                </a:solidFill>
                <a:latin typeface="Arial" pitchFamily="34" charset="0"/>
                <a:ea typeface="Arial" pitchFamily="34" charset="-122"/>
                <a:cs typeface="Arial" pitchFamily="34" charset="-120"/>
              </a:rPr>
              <a:t>Four deadlines</a:t>
            </a:r>
            <a:endParaRPr lang="en-US" sz="2400" dirty="0"/>
          </a:p>
        </p:txBody>
      </p:sp>
      <p:sp>
        <p:nvSpPr>
          <p:cNvPr id="4" name="Shape 2"/>
          <p:cNvSpPr/>
          <p:nvPr/>
        </p:nvSpPr>
        <p:spPr>
          <a:xfrm>
            <a:off x="292608" y="950976"/>
            <a:ext cx="1005840" cy="0"/>
          </a:xfrm>
          <a:prstGeom prst="line">
            <a:avLst/>
          </a:prstGeom>
          <a:noFill/>
          <a:ln w="31750">
            <a:solidFill>
              <a:srgbClr val="C9892F"/>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8412480" cy="914400"/>
        </p:xfrm>
        <a:graphic>
          <a:graphicData uri="http://schemas.openxmlformats.org/drawingml/2006/table">
            <a:tbl>
              <a:tblPr/>
              <a:tblGrid>
                <a:gridCol w="2194560"/>
                <a:gridCol w="6217920"/>
              </a:tblGrid>
              <a:tr h="365760">
                <a:tc>
                  <a:txBody>
                    <a:bodyPr/>
                    <a:lstStyle/>
                    <a:p>
                      <a:pPr indent="0" marL="0">
                        <a:buNone/>
                      </a:pPr>
                      <a:r>
                        <a:rPr lang="en-US" sz="1050" b="1" dirty="0">
                          <a:solidFill>
                            <a:srgbClr val="FFFFFF"/>
                          </a:solidFill>
                          <a:latin typeface="Arial" pitchFamily="34" charset="0"/>
                          <a:ea typeface="Arial" pitchFamily="34" charset="-122"/>
                          <a:cs typeface="Arial" pitchFamily="34" charset="-120"/>
                        </a:rPr>
                        <a:t>Checkpoint</a:t>
                      </a:r>
                      <a:endParaRPr lang="en-US" sz="105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Lands</a:t>
                      </a:r>
                      <a:endParaRPr lang="en-US" sz="105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1F3A5F"/>
                    </a:solidFill>
                  </a:tcPr>
                </a:tc>
              </a:tr>
              <a:tr h="502920">
                <a:tc>
                  <a:txBody>
                    <a:bodyPr/>
                    <a:lstStyle/>
                    <a:p>
                      <a:pPr algn="l" indent="0" marL="0">
                        <a:buNone/>
                      </a:pPr>
                      <a:r>
                        <a:rPr lang="en-US" sz="1050" b="1" dirty="0">
                          <a:solidFill>
                            <a:srgbClr val="1A2330"/>
                          </a:solidFill>
                          <a:latin typeface="Arial" pitchFamily="34" charset="0"/>
                          <a:ea typeface="Arial" pitchFamily="34" charset="-122"/>
                          <a:cs typeface="Arial" pitchFamily="34" charset="-120"/>
                        </a:rPr>
                        <a:t>Architecture Defense  (now)</a:t>
                      </a:r>
                      <a:endParaRPr lang="en-US" sz="105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330"/>
                          </a:solidFill>
                          <a:latin typeface="Arial" pitchFamily="34" charset="0"/>
                          <a:ea typeface="Arial" pitchFamily="34" charset="-122"/>
                          <a:cs typeface="Arial" pitchFamily="34" charset="-120"/>
                        </a:rPr>
                        <a:t>This deck: agent scope, graph, trigger model, autonomy boundary, deployment</a:t>
                      </a:r>
                      <a:endParaRPr lang="en-US" sz="105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r>
              <a:tr h="1051560">
                <a:tc>
                  <a:txBody>
                    <a:bodyPr/>
                    <a:lstStyle/>
                    <a:p>
                      <a:pPr algn="l" indent="0" marL="0">
                        <a:buNone/>
                      </a:pPr>
                      <a:r>
                        <a:rPr lang="en-US" sz="1050" b="1" dirty="0">
                          <a:solidFill>
                            <a:srgbClr val="1A2330"/>
                          </a:solidFill>
                          <a:latin typeface="Arial" pitchFamily="34" charset="0"/>
                          <a:ea typeface="Arial" pitchFamily="34" charset="-122"/>
                          <a:cs typeface="Arial" pitchFamily="34" charset="-120"/>
                        </a:rPr>
                        <a:t>MVP  (Tue)</a:t>
                      </a:r>
                      <a:endParaRPr lang="en-US" sz="105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l" indent="0" marL="0">
                        <a:buNone/>
                      </a:pPr>
                      <a:r>
                        <a:rPr lang="en-US" sz="1050" dirty="0">
                          <a:solidFill>
                            <a:srgbClr val="1A2330"/>
                          </a:solidFill>
                          <a:latin typeface="Arial" pitchFamily="34" charset="0"/>
                          <a:ea typeface="Arial" pitchFamily="34" charset="-122"/>
                          <a:cs typeface="Arial" pitchFamily="34" charset="-120"/>
                        </a:rPr>
                        <a:t>Graph live + ≥1 proactive detection e2e on real data; ≥2 LangSmith traces (diff paths); HITL gate; chat + notifications in UI; deployed; FLEETGRAPH.md (Responsibility, Diagram, ≥5 Use Cases, Trigger)</a:t>
                      </a:r>
                      <a:endParaRPr lang="en-US" sz="105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r>
              <a:tr h="548640">
                <a:tc>
                  <a:txBody>
                    <a:bodyPr/>
                    <a:lstStyle/>
                    <a:p>
                      <a:pPr algn="l" indent="0" marL="0">
                        <a:buNone/>
                      </a:pPr>
                      <a:r>
                        <a:rPr lang="en-US" sz="1050" b="1" dirty="0">
                          <a:solidFill>
                            <a:srgbClr val="1A2330"/>
                          </a:solidFill>
                          <a:latin typeface="Arial" pitchFamily="34" charset="0"/>
                          <a:ea typeface="Arial" pitchFamily="34" charset="-122"/>
                          <a:cs typeface="Arial" pitchFamily="34" charset="-120"/>
                        </a:rPr>
                        <a:t>Early  (Thu)</a:t>
                      </a:r>
                      <a:endParaRPr lang="en-US" sz="105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330"/>
                          </a:solidFill>
                          <a:latin typeface="Arial" pitchFamily="34" charset="0"/>
                          <a:ea typeface="Arial" pitchFamily="34" charset="-122"/>
                          <a:cs typeface="Arial" pitchFamily="34" charset="-120"/>
                        </a:rPr>
                        <a:t>Test Cases + Architecture Decisions sections; broader detectors; on-demand action path</a:t>
                      </a:r>
                      <a:endParaRPr lang="en-US" sz="105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FFFFF"/>
                    </a:solidFill>
                  </a:tcPr>
                </a:tc>
              </a:tr>
              <a:tr h="548640">
                <a:tc>
                  <a:txBody>
                    <a:bodyPr/>
                    <a:lstStyle/>
                    <a:p>
                      <a:pPr algn="l" indent="0" marL="0">
                        <a:buNone/>
                      </a:pPr>
                      <a:r>
                        <a:rPr lang="en-US" sz="1050" b="1" dirty="0">
                          <a:solidFill>
                            <a:srgbClr val="1A2330"/>
                          </a:solidFill>
                          <a:latin typeface="Arial" pitchFamily="34" charset="0"/>
                          <a:ea typeface="Arial" pitchFamily="34" charset="-122"/>
                          <a:cs typeface="Arial" pitchFamily="34" charset="-120"/>
                        </a:rPr>
                        <a:t>Final  (Sun noon)</a:t>
                      </a:r>
                      <a:endParaRPr lang="en-US" sz="105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c>
                  <a:txBody>
                    <a:bodyPr/>
                    <a:lstStyle/>
                    <a:p>
                      <a:pPr algn="l" indent="0" marL="0">
                        <a:buNone/>
                      </a:pPr>
                      <a:r>
                        <a:rPr lang="en-US" sz="1050" dirty="0">
                          <a:solidFill>
                            <a:srgbClr val="1A2330"/>
                          </a:solidFill>
                          <a:latin typeface="Arial" pitchFamily="34" charset="0"/>
                          <a:ea typeface="Arial" pitchFamily="34" charset="-122"/>
                          <a:cs typeface="Arial" pitchFamily="34" charset="-120"/>
                        </a:rPr>
                        <a:t>Cost Analysis (dev spend + 100/1k/10k projections); PRESEARCH.md; polish</a:t>
                      </a:r>
                      <a:endParaRPr lang="en-US" sz="1050" dirty="0">
                        <a:latin typeface="Arial" charset="0"/>
                        <a:ea typeface="Arial" charset="0"/>
                        <a:cs typeface="Arial" charset="0"/>
                      </a:endParaRPr>
                    </a:p>
                  </a:txBody>
                  <a:tcPr marL="50800" marR="50800" marT="50800" marB="50800" anchor="ctr">
                    <a:lnL w="6350" cap="flat" cmpd="sng" algn="ctr">
                      <a:solidFill>
                        <a:srgbClr val="C4CDD6"/>
                      </a:solidFill>
                      <a:prstDash val="solid"/>
                      <a:round/>
                      <a:headEnd type="none" w="med" len="med"/>
                      <a:tailEnd type="none" w="med" len="med"/>
                    </a:lnL>
                    <a:lnR w="6350" cap="flat" cmpd="sng" algn="ctr">
                      <a:solidFill>
                        <a:srgbClr val="C4CDD6"/>
                      </a:solidFill>
                      <a:prstDash val="solid"/>
                      <a:round/>
                      <a:headEnd type="none" w="med" len="med"/>
                      <a:tailEnd type="none" w="med" len="med"/>
                    </a:lnR>
                    <a:lnT w="6350" cap="flat" cmpd="sng" algn="ctr">
                      <a:solidFill>
                        <a:srgbClr val="C4CDD6"/>
                      </a:solidFill>
                      <a:prstDash val="solid"/>
                      <a:round/>
                      <a:headEnd type="none" w="med" len="med"/>
                      <a:tailEnd type="none" w="med" len="med"/>
                    </a:lnT>
                    <a:lnB w="6350" cap="flat" cmpd="sng" algn="ctr">
                      <a:solidFill>
                        <a:srgbClr val="C4CDD6"/>
                      </a:solidFill>
                      <a:prstDash val="solid"/>
                      <a:round/>
                      <a:headEnd type="none" w="med" len="med"/>
                      <a:tailEnd type="none" w="med" len="med"/>
                    </a:lnB>
                    <a:solidFill>
                      <a:srgbClr val="F4F6F8"/>
                    </a:solidFill>
                  </a:tcPr>
                </a:tc>
              </a:tr>
            </a:tbl>
          </a:graphicData>
        </a:graphic>
      </p:graphicFrame>
      <p:sp>
        <p:nvSpPr>
          <p:cNvPr id="6" name="Text 3"/>
          <p:cNvSpPr/>
          <p:nvPr/>
        </p:nvSpPr>
        <p:spPr>
          <a:xfrm>
            <a:off x="365760" y="4343400"/>
            <a:ext cx="8412480" cy="457200"/>
          </a:xfrm>
          <a:prstGeom prst="rect">
            <a:avLst/>
          </a:prstGeom>
          <a:noFill/>
          <a:ln/>
        </p:spPr>
        <p:txBody>
          <a:bodyPr wrap="square" rtlCol="0" anchor="ctr"/>
          <a:lstStyle/>
          <a:p>
            <a:pPr indent="0" marL="0">
              <a:buNone/>
            </a:pPr>
            <a:r>
              <a:rPr lang="en-US" sz="1150" b="1" dirty="0">
                <a:solidFill>
                  <a:srgbClr val="1F3A5F"/>
                </a:solidFill>
                <a:latin typeface="Arial" pitchFamily="34" charset="0"/>
                <a:ea typeface="Arial" pitchFamily="34" charset="-122"/>
                <a:cs typeface="Arial" pitchFamily="34" charset="-120"/>
              </a:rPr>
              <a:t>Thesis:  </a:t>
            </a:r>
            <a:pPr indent="0" marL="0">
              <a:buNone/>
            </a:pPr>
            <a:r>
              <a:rPr lang="en-US" sz="1150" i="1" dirty="0">
                <a:solidFill>
                  <a:srgbClr val="1A2330"/>
                </a:solidFill>
                <a:latin typeface="Arial" pitchFamily="34" charset="0"/>
                <a:ea typeface="Arial" pitchFamily="34" charset="-122"/>
                <a:cs typeface="Arial" pitchFamily="34" charset="-120"/>
              </a:rPr>
              <a:t>an agent that watches Ship, decides what's worth a human's attention, and makes the next action obvious — built by reusing what Ship already has.</a:t>
            </a:r>
            <a:endParaRPr lang="en-US" sz="1150" dirty="0"/>
          </a:p>
        </p:txBody>
      </p:sp>
      <p:sp>
        <p:nvSpPr>
          <p:cNvPr id="25" name="Slide Number Placeholder 0"/>
          <p:cNvSpPr>
            <a:spLocks noGrp="1"/>
          </p:cNvSpPr>
          <p:nvPr>
            <p:ph type="sldNum" sz="quarter" idx="4294967295"/>
          </p:nvPr>
        </p:nvSpPr>
        <p:spPr>
          <a:xfrm>
            <a:off x="8412480" y="4937760"/>
            <a:ext cx="548640" cy="205740"/>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Ship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FleetGraph — Architecture Defense</dc:title>
  <dc:subject>PptxGenJS Presentation</dc:subject>
  <dc:creator>FleetGraph</dc:creator>
  <cp:lastModifiedBy>FleetGraph</cp:lastModifiedBy>
  <cp:revision>1</cp:revision>
  <dcterms:created xsi:type="dcterms:W3CDTF">2026-05-25T16:25:04Z</dcterms:created>
  <dcterms:modified xsi:type="dcterms:W3CDTF">2026-05-25T16:25:04Z</dcterms:modified>
</cp:coreProperties>
</file>