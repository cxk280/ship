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8"/>
    <p:sldId id="284" r:id="rId39"/>
    <p:sldId id="285" r:id="rId40"/>
    <p:sldId id="286" r:id="rId41"/>
    <p:sldId id="287" r:id="rId42"/>
    <p:sldId id="288" r:id="rId43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Relationship Id="rId41" Type="http://schemas.openxmlformats.org/officeDocument/2006/relationships/slide" Target="slides/slide31.xml"/><Relationship Id="rId42" Type="http://schemas.openxmlformats.org/officeDocument/2006/relationships/slide" Target="slides/slide32.xml"/><Relationship Id="rId43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inal_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8-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9-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0-fin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31-fix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109728"/>
          </a:xfrm>
          <a:prstGeom prst="rect">
            <a:avLst/>
          </a:prstGeom>
          <a:solidFill>
            <a:srgbClr val="2A9D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84048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8FAFC"/>
                </a:solidFill>
              </a:defRPr>
            </a:pPr>
            <a:r>
              <a:t>Category 8: Security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9611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AC2D0"/>
                </a:solidFill>
              </a:defRPr>
            </a:pPr>
            <a:r>
              <a:t>Runnable active probe, before/after evidence, and two verified fixes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Before probe</a:t>
            </a:r>
          </a:p>
          <a:p>
            <a:pPr>
              <a:defRPr sz="2200" b="1">
                <a:solidFill>
                  <a:srgbClr val="F87171"/>
                </a:solidFill>
              </a:defRPr>
            </a:pPr>
            <a:r>
              <a:t>14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2 Critical / 11 High / 1 Medium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75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After probe</a:t>
            </a:r>
          </a:p>
          <a:p>
            <a:pPr>
              <a:defRPr sz="2200" b="1">
                <a:solidFill>
                  <a:srgbClr val="FACC15"/>
                </a:solidFill>
              </a:defRPr>
            </a:pPr>
            <a:r>
              <a:t>12 findings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14 of 16 checks 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Fix target</a:t>
            </a:r>
          </a:p>
          <a:p>
            <a:pPr>
              <a:defRPr sz="2200" b="1">
                <a:solidFill>
                  <a:srgbClr val="4ADE80"/>
                </a:solidFill>
              </a:defRPr>
            </a:pPr>
            <a:r>
              <a:t>2 closed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CSP + WebSocket validation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417320"/>
            <a:ext cx="2514600" cy="1051560"/>
          </a:xfrm>
          <a:prstGeom prst="roundRect">
            <a:avLst/>
          </a:prstGeom>
          <a:solidFill>
            <a:srgbClr val="161E30"/>
          </a:solidFill>
          <a:ln w="12700">
            <a:solidFill>
              <a:srgbClr val="2F3A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109728" bIns="73152"/>
          <a:lstStyle/>
          <a:p>
            <a:pPr algn="ctr">
              <a:defRPr sz="900" b="1">
                <a:solidFill>
                  <a:srgbClr val="A0AEC0"/>
                </a:solidFill>
              </a:defRPr>
            </a:pPr>
            <a:r>
              <a:t>Regression suites</a:t>
            </a:r>
          </a:p>
          <a:p>
            <a:pPr>
              <a:defRPr sz="2200" b="1">
                <a:solidFill>
                  <a:srgbClr val="60A5FA"/>
                </a:solidFill>
              </a:defRPr>
            </a:pPr>
            <a:r>
              <a:t>622 tests</a:t>
            </a:r>
          </a:p>
          <a:p>
            <a:pPr>
              <a:defRPr sz="900">
                <a:solidFill>
                  <a:srgbClr val="CBD5E1"/>
                </a:solidFill>
              </a:defRPr>
            </a:pPr>
            <a:r>
              <a:t>API 465 + Web 157 passed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Probe coverage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Auth/session checks: protected route rejection, login, session entropy, member privilege boundary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WebSocket checks: unauthenticated access, unsupported type, malformed frame, oversized payload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Input sanitization and production dependency audit with JSON/Markdown reports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Manual review: CORS/CSP, secrets, rate limits, verbose error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2788920"/>
            <a:ext cx="52578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8FAFC"/>
                </a:solidFill>
              </a:defRPr>
            </a:pPr>
            <a:r>
              <a:t>After-fix state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CSP script-src now uses a per-request nonce; unsafe-inline removed from scripts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Malformed collaboration messages close with 1003 and no longer crash the API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Oversized collaboration payloads close with 1009 and leave /health available</a:t>
            </a:r>
          </a:p>
          <a:p>
            <a:pPr>
              <a:spcAft>
                <a:spcPts val="500"/>
              </a:spcAft>
              <a:defRPr sz="1100">
                <a:solidFill>
                  <a:srgbClr val="DBE2EC"/>
                </a:solidFill>
              </a:defRPr>
            </a:pPr>
            <a:r>
              <a:t>Remaining work: dependency upgrades and title/content sanitization hardening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263640"/>
            <a:ext cx="1078992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94A3B8"/>
                </a:solidFill>
              </a:defRPr>
            </a:pPr>
            <a:r>
              <a:t>Artifacts: scripts/security-probe.mjs, shipshape/SECURITY_PROBE.md, shipshape/shipshape-evidence/security-probe-before|after.{json,md}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8FAFC"/>
                </a:solidFill>
              </a:defRPr>
            </a:pPr>
            <a:r>
              <a:t>MVP Stretch Goals -&gt; Final Stretch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10642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BD5E1"/>
                </a:solidFill>
              </a:defRPr>
            </a:pPr>
            <a:r>
              <a:t>Final pass tightened the first seven audit categories without erasing the original MVP bar.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3246120" cy="4983480"/>
          </a:xfrm>
          <a:prstGeom prst="rect">
            <a:avLst/>
          </a:prstGeom>
          <a:solidFill>
            <a:srgbClr val="1E293B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1600200"/>
            <a:ext cx="28529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MVP stretch goal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2057400"/>
            <a:ext cx="285292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20% initial bundle reduction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 + web Vitest green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API/web V8 coverage reports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80% changed-line coverage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20% P95 reduction on two endpoints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20% main-flow query-count reduction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0 Critical/Serious axe issues on target pages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60520" y="1417320"/>
            <a:ext cx="3246120" cy="4983480"/>
          </a:xfrm>
          <a:prstGeom prst="rect">
            <a:avLst/>
          </a:prstGeom>
          <a:solidFill>
            <a:srgbClr val="164E63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61688" y="1600200"/>
            <a:ext cx="28529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Final stretch 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1688" y="2057400"/>
            <a:ext cx="285292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Large PropertyRow async chunk warning closed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Root pnpm test runs API and web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Coverage ratchets still pass after final changes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423/423 changed executable unit lines covered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Security-probe and axe exclusions named explicitly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Build has no Vite chunk-size or mixed import warnings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Grader feedback artifacts are committed and cross-linked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1417320"/>
            <a:ext cx="3246120" cy="4983480"/>
          </a:xfrm>
          <a:prstGeom prst="rect">
            <a:avLst/>
          </a:prstGeom>
          <a:solidFill>
            <a:srgbClr val="374151"/>
          </a:solidFill>
          <a:ln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73568" y="1600200"/>
            <a:ext cx="285292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F8FAFC"/>
                </a:solidFill>
              </a:defRPr>
            </a:pPr>
            <a:r>
              <a:t>Current evidence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73568" y="2057400"/>
            <a:ext cx="285292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Main app: 328.43 kB / 94.85 kB gzip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PropertyRow: 85.72 kB / 24.70 kB gzip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API: 29 files / 465 tests passed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Web: 19 files / 157 tests passed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API coverage: 41.25% line / 34.27% branch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Web coverage: 28.10% line / 16.60% branch</a:t>
            </a:r>
          </a:p>
          <a:p>
            <a:pPr>
              <a:spcAft>
                <a:spcPts val="700"/>
              </a:spcAft>
              <a:defRPr sz="1050">
                <a:solidFill>
                  <a:srgbClr val="E2E8F0"/>
                </a:solidFill>
              </a:defRPr>
            </a:pPr>
            <a:r>
              <a:t>DISCOVERIES.md has exactly 3 entries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