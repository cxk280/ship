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8"/>
    <p:sldId id="284" r:id="rId39"/>
    <p:sldId id="285" r:id="rId40"/>
    <p:sldId id="286" r:id="rId41"/>
    <p:sldId id="287" r:id="rId42"/>
    <p:sldId id="289" r:id="rId44"/>
    <p:sldId id="288" r:id="rId43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4.xml"/><Relationship Id="rId44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-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-fin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-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8FAFC"/>
                </a:solidFill>
              </a:defRPr>
            </a:pPr>
            <a:r>
              <a:t>Category 8: Security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9611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AC2D0"/>
                </a:solidFill>
              </a:defRPr>
            </a:pPr>
            <a:r>
              <a:t>Runnable active probe, before/after evidence, and two verified fixes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2514600" cy="1051560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2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09728" bIns="73152"/>
          <a:lstStyle/>
          <a:p>
            <a:pPr algn="ctr">
              <a:defRPr sz="900" b="1">
                <a:solidFill>
                  <a:srgbClr val="A0AEC0"/>
                </a:solidFill>
              </a:defRPr>
            </a:pPr>
            <a:r>
              <a:t>Before probe</a:t>
            </a:r>
          </a:p>
          <a:p>
            <a:pPr>
              <a:defRPr sz="2200" b="1">
                <a:solidFill>
                  <a:srgbClr val="F87171"/>
                </a:solidFill>
              </a:defRPr>
            </a:pPr>
            <a:r>
              <a:t>14 findings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2 Critical / 11 High / 1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7560" y="1417320"/>
            <a:ext cx="2514600" cy="1051560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2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09728" bIns="73152"/>
          <a:lstStyle/>
          <a:p>
            <a:pPr algn="ctr">
              <a:defRPr sz="900" b="1">
                <a:solidFill>
                  <a:srgbClr val="A0AEC0"/>
                </a:solidFill>
              </a:defRPr>
            </a:pPr>
            <a:r>
              <a:t>After probe</a:t>
            </a:r>
          </a:p>
          <a:p>
            <a:pPr>
              <a:defRPr sz="2200" b="1">
                <a:solidFill>
                  <a:srgbClr val="FACC15"/>
                </a:solidFill>
              </a:defRPr>
            </a:pPr>
            <a:r>
              <a:t>2 findings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0 Critical/High · 14 of 16 checks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417320"/>
            <a:ext cx="2514600" cy="1051560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2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09728" bIns="73152"/>
          <a:lstStyle/>
          <a:p>
            <a:pPr algn="ctr">
              <a:defRPr sz="900" b="1">
                <a:solidFill>
                  <a:srgbClr val="A0AEC0"/>
                </a:solidFill>
              </a:defRPr>
            </a:pPr>
            <a:r>
              <a:t>Fix target</a:t>
            </a:r>
          </a:p>
          <a:p>
            <a:pPr>
              <a:defRPr sz="2200" b="1">
                <a:solidFill>
                  <a:srgbClr val="4ADE80"/>
                </a:solidFill>
              </a:defRPr>
            </a:pPr>
            <a:r>
              <a:t>2 closed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CSP + WebSocket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417320"/>
            <a:ext cx="2514600" cy="1051560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2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09728" bIns="73152"/>
          <a:lstStyle/>
          <a:p>
            <a:pPr algn="ctr">
              <a:defRPr sz="900" b="1">
                <a:solidFill>
                  <a:srgbClr val="A0AEC0"/>
                </a:solidFill>
              </a:defRPr>
            </a:pPr>
            <a:r>
              <a:t>Regression suites</a:t>
            </a:r>
          </a:p>
          <a:p>
            <a:pPr>
              <a:defRPr sz="2200" b="1">
                <a:solidFill>
                  <a:srgbClr val="60A5FA"/>
                </a:solidFill>
              </a:defRPr>
            </a:pPr>
            <a:r>
              <a:t>622 tests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API 465 + Web 157 passed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8920"/>
            <a:ext cx="5257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Probe coverage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Auth/session checks: protected route rejection, login, session entropy, member privilege boundary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WebSocket checks: unauthenticated access, unsupported type, malformed frame, oversized payload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Input sanitization and production dependency audit with JSON/Markdown reports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Manual review: CORS/CSP, secrets, rate limits, verbose error leakage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88920"/>
            <a:ext cx="5257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After-fix state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CSP script-src now uses a per-request nonce; unsafe-inline removed from scripts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Malformed collaboration messages close with 1003 and no longer crash the API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Oversized collaboration payloads close with 1009 and leave /health available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Remaining work: dependency upgrades and title/content sanitization hardening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63640"/>
            <a:ext cx="10789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Artifacts: scripts/security-probe.mjs, shipshape/SECURITY_PROBE.md, shipshape/shipshape-evidence/security-probe-before|after.{json,md}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4630400" cy="10972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234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C9A227"/>
                </a:solidFill>
                <a:latin typeface="Arial"/>
              </a:rPr>
              <a:t>Final Audit &amp; Remediation (Claude)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32688"/>
            <a:ext cx="1234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B5BDC9"/>
                </a:solidFill>
                <a:latin typeface="Arial"/>
              </a:rPr>
              <a:t>Independent adversarial re-grade on 2026-05-24: real defects found, fixed, and verified in-browser.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6949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Arial"/>
              </a:rPr>
              <a:t>Defects caught and fixed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• Accessibility ARIA regression — removed role=tree/treeitem broke existing E2E spec 2.13; ARIA restored.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• “0 Critical/Serious axe” claim was FALSE — live scan found serious contrast on Projects (12 nodes) + My Week (4). Fixed; all 6 target pages now clean.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• CSP blocked the app’s own Google Fonts on the deployed app — added fonts CDN to style-src/font-src.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• Type-safety 25% reduction was unverifiable — added a reproducible counter script.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• Railway hardened: NODE_ENV development → production (secure cookies, hardened errors).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26679" y="15544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Arial"/>
              </a:rPr>
              <a:t>Proof (reproducible)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Type safety: 1281 → 950 core = 25.84% (gate PASS)</a:t>
            </a:r>
          </a:p>
          <a:p>
            <a:pPr>
              <a:spcAft>
                <a:spcPts val="1000"/>
              </a:spcAft>
            </a:pPr>
            <a:r>
              <a:rPr sz="1100" b="0">
                <a:solidFill>
                  <a:srgbClr val="B5BDC9"/>
                </a:solidFill>
                <a:latin typeface="Arial"/>
              </a:rPr>
              <a:t>scripts/shipshape-type-violations.ts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Accessibility: 6/6 target pages 0 critical/serious</a:t>
            </a:r>
          </a:p>
          <a:p>
            <a:pPr>
              <a:spcAft>
                <a:spcPts val="1000"/>
              </a:spcAft>
            </a:pPr>
            <a:r>
              <a:rPr sz="1100" b="0">
                <a:solidFill>
                  <a:srgbClr val="B5BDC9"/>
                </a:solidFill>
                <a:latin typeface="Arial"/>
              </a:rPr>
              <a:t>scripts/shipshape-axe-scan.mjs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Security probe: 14/16, 0 Critical/High deps</a:t>
            </a:r>
          </a:p>
          <a:p>
            <a:pPr>
              <a:spcAft>
                <a:spcPts val="1000"/>
              </a:spcAft>
            </a:pPr>
            <a:r>
              <a:rPr sz="1100" b="0">
                <a:solidFill>
                  <a:srgbClr val="B5BDC9"/>
                </a:solidFill>
                <a:latin typeface="Arial"/>
              </a:rPr>
              <a:t>CSP + WebSocket + dependency CVEs fixed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Tests: API 465 + Web 157 = 622 pass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Build: no chunk-size warnings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55080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B5BDC9"/>
                </a:solidFill>
                <a:latin typeface="Arial"/>
              </a:rPr>
              <a:t>Details: shipshape/CLAUDE_FINAL_AUDIT.md  |  Every fix verified in-browser and via reproducible scripts.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MVP Stretch Goals -&gt; Final Stretch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</a:defRPr>
            </a:pPr>
            <a:r>
              <a:t>Final pass tightened the first seven audit categories without erasing the original MVP bar.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3246120" cy="4983480"/>
          </a:xfrm>
          <a:prstGeom prst="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600200"/>
            <a:ext cx="28529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MVP stretch goal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057400"/>
            <a:ext cx="285292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20% initial bundle reduction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API + web Vitest green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API/web V8 coverage reports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80% changed-line coverage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20% P95 reduction on two endpoints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20% main-flow query-count reduction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0 Critical/Serious axe issues on target pages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417320"/>
            <a:ext cx="3246120" cy="4983480"/>
          </a:xfrm>
          <a:prstGeom prst="rect">
            <a:avLst/>
          </a:prstGeom>
          <a:solidFill>
            <a:srgbClr val="164E63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61688" y="1600200"/>
            <a:ext cx="28529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Final stretch 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2057400"/>
            <a:ext cx="285292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Large PropertyRow async chunk warning closed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Root pnpm test runs API and web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Coverage ratchets still pass after final changes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423/423 changed executable unit lines covered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Security-probe and axe exclusions named explicitly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Build has no Vite chunk-size or mixed import warnings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Grader feedback artifacts are committed and cross-linked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417320"/>
            <a:ext cx="3246120" cy="4983480"/>
          </a:xfrm>
          <a:prstGeom prst="rect">
            <a:avLst/>
          </a:prstGeom>
          <a:solidFill>
            <a:srgbClr val="374151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1600200"/>
            <a:ext cx="28529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Current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73568" y="2057400"/>
            <a:ext cx="285292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Main app: 328.43 kB / 94.85 kB gzip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PropertyRow: 85.72 kB / 24.70 kB gzip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API: 29 files / 465 tests passed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Web: 19 files / 157 tests passed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API coverage: 41.25% line / 34.27% branch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Web coverage: 28.10% line / 16.60% branch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DISCOVERIES.md has exactly 3 entries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