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8"/>
    <p:sldId id="284" r:id="rId39"/>
    <p:sldId id="285" r:id="rId40"/>
    <p:sldId id="286" r:id="rId41"/>
    <p:sldId id="287" r:id="rId42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-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-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-fin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-fi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8FAFC"/>
                </a:solidFill>
              </a:defRPr>
            </a:pPr>
            <a:r>
              <a:t>Category 8: Security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9611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BAC2D0"/>
                </a:solidFill>
              </a:defRPr>
            </a:pPr>
            <a:r>
              <a:t>Runnable active probe, before/after evidence, and two verified fixes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2514600" cy="1051560"/>
          </a:xfrm>
          <a:prstGeom prst="roundRect">
            <a:avLst/>
          </a:prstGeom>
          <a:solidFill>
            <a:srgbClr val="161E30"/>
          </a:solidFill>
          <a:ln w="12700">
            <a:solidFill>
              <a:srgbClr val="2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109728" bIns="73152"/>
          <a:lstStyle/>
          <a:p>
            <a:pPr algn="ctr">
              <a:defRPr sz="900" b="1">
                <a:solidFill>
                  <a:srgbClr val="A0AEC0"/>
                </a:solidFill>
              </a:defRPr>
            </a:pPr>
            <a:r>
              <a:t>Before probe</a:t>
            </a:r>
          </a:p>
          <a:p>
            <a:pPr>
              <a:defRPr sz="2200" b="1">
                <a:solidFill>
                  <a:srgbClr val="F87171"/>
                </a:solidFill>
              </a:defRPr>
            </a:pPr>
            <a:r>
              <a:t>14 findings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2 Critical / 11 High / 1 Medium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7560" y="1417320"/>
            <a:ext cx="2514600" cy="1051560"/>
          </a:xfrm>
          <a:prstGeom prst="roundRect">
            <a:avLst/>
          </a:prstGeom>
          <a:solidFill>
            <a:srgbClr val="161E30"/>
          </a:solidFill>
          <a:ln w="12700">
            <a:solidFill>
              <a:srgbClr val="2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109728" bIns="73152"/>
          <a:lstStyle/>
          <a:p>
            <a:pPr algn="ctr">
              <a:defRPr sz="900" b="1">
                <a:solidFill>
                  <a:srgbClr val="A0AEC0"/>
                </a:solidFill>
              </a:defRPr>
            </a:pPr>
            <a:r>
              <a:t>After probe</a:t>
            </a:r>
          </a:p>
          <a:p>
            <a:pPr>
              <a:defRPr sz="2200" b="1">
                <a:solidFill>
                  <a:srgbClr val="FACC15"/>
                </a:solidFill>
              </a:defRPr>
            </a:pPr>
            <a:r>
              <a:t>11 findings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13 of 14 checks passing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417320"/>
            <a:ext cx="2514600" cy="1051560"/>
          </a:xfrm>
          <a:prstGeom prst="roundRect">
            <a:avLst/>
          </a:prstGeom>
          <a:solidFill>
            <a:srgbClr val="161E30"/>
          </a:solidFill>
          <a:ln w="12700">
            <a:solidFill>
              <a:srgbClr val="2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109728" bIns="73152"/>
          <a:lstStyle/>
          <a:p>
            <a:pPr algn="ctr">
              <a:defRPr sz="900" b="1">
                <a:solidFill>
                  <a:srgbClr val="A0AEC0"/>
                </a:solidFill>
              </a:defRPr>
            </a:pPr>
            <a:r>
              <a:t>Fix target</a:t>
            </a:r>
          </a:p>
          <a:p>
            <a:pPr>
              <a:defRPr sz="2200" b="1">
                <a:solidFill>
                  <a:srgbClr val="4ADE80"/>
                </a:solidFill>
              </a:defRPr>
            </a:pPr>
            <a:r>
              <a:t>2 closed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CSP + WebSocket validation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23960" y="1417320"/>
            <a:ext cx="2514600" cy="1051560"/>
          </a:xfrm>
          <a:prstGeom prst="roundRect">
            <a:avLst/>
          </a:prstGeom>
          <a:solidFill>
            <a:srgbClr val="161E30"/>
          </a:solidFill>
          <a:ln w="12700">
            <a:solidFill>
              <a:srgbClr val="2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109728" bIns="73152"/>
          <a:lstStyle/>
          <a:p>
            <a:pPr algn="ctr">
              <a:defRPr sz="900" b="1">
                <a:solidFill>
                  <a:srgbClr val="A0AEC0"/>
                </a:solidFill>
              </a:defRPr>
            </a:pPr>
            <a:r>
              <a:t>Regression suites</a:t>
            </a:r>
          </a:p>
          <a:p>
            <a:pPr>
              <a:defRPr sz="2200" b="1">
                <a:solidFill>
                  <a:srgbClr val="60A5FA"/>
                </a:solidFill>
              </a:defRPr>
            </a:pPr>
            <a:r>
              <a:t>622 tests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API 465 + Web 157 passed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88920"/>
            <a:ext cx="52578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Probe coverage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Auth/session checks: protected route rejection, login, session entropy, member privilege boundary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WebSocket checks: unauthenticated access, unsupported type, malformed frame, oversized payload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Input sanitization and production dependency audit with JSON/Markdown reports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Manual review: CORS/CSP, secrets, rate limits, verbose error leakage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788920"/>
            <a:ext cx="52578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After-fix state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CSP script-src now uses a per-request nonce; unsafe-inline removed from scripts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Malformed collaboration messages close with 1003 and no longer crash the API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Oversized collaboration payloads close with 1009 and leave /health available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Remaining work: dependency upgrades and API title sanitization hardening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63640"/>
            <a:ext cx="10789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Artifacts: scripts/security-probe.mjs, shipshape/SECURITY_PROBE.md, shipshape/shipshape-evidence/security-probe-before|after.{json,md}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